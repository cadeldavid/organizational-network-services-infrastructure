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6" r:id="rId3"/>
    <p:sldMasterId id="2147483697" r:id="rId4"/>
    <p:sldMasterId id="2147483698" r:id="rId5"/>
    <p:sldMasterId id="2147483699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y="6858000" cx="12192000"/>
  <p:notesSz cx="7559675" cy="10691800"/>
  <p:embeddedFontLst>
    <p:embeddedFont>
      <p:font typeface="Inter SemiBold"/>
      <p:regular r:id="rId23"/>
      <p:bold r:id="rId24"/>
      <p:italic r:id="rId25"/>
      <p:boldItalic r:id="rId26"/>
    </p:embeddedFont>
    <p:embeddedFont>
      <p:font typeface="Inter"/>
      <p:regular r:id="rId27"/>
      <p:bold r:id="rId28"/>
      <p:italic r:id="rId29"/>
      <p:boldItalic r:id="rId30"/>
    </p:embeddedFont>
    <p:embeddedFont>
      <p:font typeface="Inter Medium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font" Target="fonts/InterSemiBold-bold.fntdata"/><Relationship Id="rId23" Type="http://schemas.openxmlformats.org/officeDocument/2006/relationships/font" Target="fonts/InterSemiBold-regular.fntdata"/><Relationship Id="rId1" Type="http://schemas.openxmlformats.org/officeDocument/2006/relationships/theme" Target="theme/theme4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2.xml"/><Relationship Id="rId26" Type="http://schemas.openxmlformats.org/officeDocument/2006/relationships/font" Target="fonts/InterSemiBold-boldItalic.fntdata"/><Relationship Id="rId25" Type="http://schemas.openxmlformats.org/officeDocument/2006/relationships/font" Target="fonts/InterSemiBold-italic.fntdata"/><Relationship Id="rId28" Type="http://schemas.openxmlformats.org/officeDocument/2006/relationships/font" Target="fonts/Inter-bold.fntdata"/><Relationship Id="rId27" Type="http://schemas.openxmlformats.org/officeDocument/2006/relationships/font" Target="fonts/Inter-regular.fntdata"/><Relationship Id="rId5" Type="http://schemas.openxmlformats.org/officeDocument/2006/relationships/slideMaster" Target="slideMasters/slideMaster3.xml"/><Relationship Id="rId6" Type="http://schemas.openxmlformats.org/officeDocument/2006/relationships/slideMaster" Target="slideMasters/slideMaster4.xml"/><Relationship Id="rId29" Type="http://schemas.openxmlformats.org/officeDocument/2006/relationships/font" Target="fonts/Inter-italic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InterMedium-regular.fntdata"/><Relationship Id="rId30" Type="http://schemas.openxmlformats.org/officeDocument/2006/relationships/font" Target="fonts/Inter-boldItalic.fntdata"/><Relationship Id="rId11" Type="http://schemas.openxmlformats.org/officeDocument/2006/relationships/slide" Target="slides/slide4.xml"/><Relationship Id="rId33" Type="http://schemas.openxmlformats.org/officeDocument/2006/relationships/font" Target="fonts/InterMedium-italic.fntdata"/><Relationship Id="rId10" Type="http://schemas.openxmlformats.org/officeDocument/2006/relationships/slide" Target="slides/slide3.xml"/><Relationship Id="rId32" Type="http://schemas.openxmlformats.org/officeDocument/2006/relationships/font" Target="fonts/InterMedium-bold.fntdata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34" Type="http://schemas.openxmlformats.org/officeDocument/2006/relationships/font" Target="fonts/InterMedium-boldItalic.fntdata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2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3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4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4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5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5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6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6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7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7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8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8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9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9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0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0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12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2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13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13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14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14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15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15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"/>
          <p:cNvSpPr txBox="1"/>
          <p:nvPr>
            <p:ph idx="1"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"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2"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7"/>
          <p:cNvSpPr txBox="1"/>
          <p:nvPr>
            <p:ph idx="1"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8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8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8"/>
          <p:cNvSpPr txBox="1"/>
          <p:nvPr>
            <p:ph idx="2"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8"/>
          <p:cNvSpPr txBox="1"/>
          <p:nvPr>
            <p:ph idx="3"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9"/>
          <p:cNvSpPr txBox="1"/>
          <p:nvPr>
            <p:ph idx="1"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9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9"/>
          <p:cNvSpPr txBox="1"/>
          <p:nvPr>
            <p:ph idx="3"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0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0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0"/>
          <p:cNvSpPr txBox="1"/>
          <p:nvPr>
            <p:ph idx="3"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1"/>
          <p:cNvSpPr txBox="1"/>
          <p:nvPr>
            <p:ph idx="1"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1"/>
          <p:cNvSpPr txBox="1"/>
          <p:nvPr>
            <p:ph idx="2"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idx="3"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2"/>
          <p:cNvSpPr txBox="1"/>
          <p:nvPr>
            <p:ph idx="4"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"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2"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3"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4"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idx="5"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3"/>
          <p:cNvSpPr txBox="1"/>
          <p:nvPr>
            <p:ph idx="6"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7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8"/>
          <p:cNvSpPr txBox="1"/>
          <p:nvPr>
            <p:ph idx="2"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9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0"/>
          <p:cNvSpPr txBox="1"/>
          <p:nvPr>
            <p:ph idx="1"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1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1"/>
          <p:cNvSpPr txBox="1"/>
          <p:nvPr>
            <p:ph idx="2"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1"/>
          <p:cNvSpPr txBox="1"/>
          <p:nvPr>
            <p:ph idx="3"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2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2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22"/>
          <p:cNvSpPr txBox="1"/>
          <p:nvPr>
            <p:ph idx="3"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3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23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23"/>
          <p:cNvSpPr txBox="1"/>
          <p:nvPr>
            <p:ph idx="3"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4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4"/>
          <p:cNvSpPr txBox="1"/>
          <p:nvPr>
            <p:ph idx="1"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4"/>
          <p:cNvSpPr txBox="1"/>
          <p:nvPr>
            <p:ph idx="2"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5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5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25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25"/>
          <p:cNvSpPr txBox="1"/>
          <p:nvPr>
            <p:ph idx="3"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5"/>
          <p:cNvSpPr txBox="1"/>
          <p:nvPr>
            <p:ph idx="4"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6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26"/>
          <p:cNvSpPr txBox="1"/>
          <p:nvPr>
            <p:ph idx="1"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6"/>
          <p:cNvSpPr txBox="1"/>
          <p:nvPr>
            <p:ph idx="2"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26"/>
          <p:cNvSpPr txBox="1"/>
          <p:nvPr>
            <p:ph idx="3"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26"/>
          <p:cNvSpPr txBox="1"/>
          <p:nvPr>
            <p:ph idx="4"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26"/>
          <p:cNvSpPr txBox="1"/>
          <p:nvPr>
            <p:ph idx="5"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26"/>
          <p:cNvSpPr txBox="1"/>
          <p:nvPr>
            <p:ph idx="6"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9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29"/>
          <p:cNvSpPr txBox="1"/>
          <p:nvPr>
            <p:ph idx="1"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0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30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1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31"/>
          <p:cNvSpPr txBox="1"/>
          <p:nvPr>
            <p:ph idx="1"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28" name="Google Shape;128;p31"/>
          <p:cNvSpPr txBox="1"/>
          <p:nvPr>
            <p:ph idx="2"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2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3"/>
          <p:cNvSpPr txBox="1"/>
          <p:nvPr>
            <p:ph idx="1"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4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34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36" name="Google Shape;136;p34"/>
          <p:cNvSpPr txBox="1"/>
          <p:nvPr>
            <p:ph idx="2"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37" name="Google Shape;137;p34"/>
          <p:cNvSpPr txBox="1"/>
          <p:nvPr>
            <p:ph idx="3"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5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35"/>
          <p:cNvSpPr txBox="1"/>
          <p:nvPr>
            <p:ph idx="1"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41" name="Google Shape;141;p35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42" name="Google Shape;142;p35"/>
          <p:cNvSpPr txBox="1"/>
          <p:nvPr>
            <p:ph idx="3"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6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36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46" name="Google Shape;146;p36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47" name="Google Shape;147;p36"/>
          <p:cNvSpPr txBox="1"/>
          <p:nvPr>
            <p:ph idx="3"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7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37"/>
          <p:cNvSpPr txBox="1"/>
          <p:nvPr>
            <p:ph idx="1"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51" name="Google Shape;151;p37"/>
          <p:cNvSpPr txBox="1"/>
          <p:nvPr>
            <p:ph idx="2"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8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38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55" name="Google Shape;155;p38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56" name="Google Shape;156;p38"/>
          <p:cNvSpPr txBox="1"/>
          <p:nvPr>
            <p:ph idx="3"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57" name="Google Shape;157;p38"/>
          <p:cNvSpPr txBox="1"/>
          <p:nvPr>
            <p:ph idx="4"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9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39"/>
          <p:cNvSpPr txBox="1"/>
          <p:nvPr>
            <p:ph idx="1"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61" name="Google Shape;161;p39"/>
          <p:cNvSpPr txBox="1"/>
          <p:nvPr>
            <p:ph idx="2"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62" name="Google Shape;162;p39"/>
          <p:cNvSpPr txBox="1"/>
          <p:nvPr>
            <p:ph idx="3"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63" name="Google Shape;163;p39"/>
          <p:cNvSpPr txBox="1"/>
          <p:nvPr>
            <p:ph idx="4"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64" name="Google Shape;164;p39"/>
          <p:cNvSpPr txBox="1"/>
          <p:nvPr>
            <p:ph idx="5"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65" name="Google Shape;165;p39"/>
          <p:cNvSpPr txBox="1"/>
          <p:nvPr>
            <p:ph idx="6"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2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5" name="Google Shape;175;p42"/>
          <p:cNvSpPr txBox="1"/>
          <p:nvPr>
            <p:ph idx="1"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43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p43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44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44"/>
          <p:cNvSpPr txBox="1"/>
          <p:nvPr>
            <p:ph idx="1"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82" name="Google Shape;182;p44"/>
          <p:cNvSpPr txBox="1"/>
          <p:nvPr>
            <p:ph idx="2"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45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46"/>
          <p:cNvSpPr txBox="1"/>
          <p:nvPr>
            <p:ph idx="1"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47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9" name="Google Shape;189;p47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90" name="Google Shape;190;p47"/>
          <p:cNvSpPr txBox="1"/>
          <p:nvPr>
            <p:ph idx="2"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91" name="Google Shape;191;p47"/>
          <p:cNvSpPr txBox="1"/>
          <p:nvPr>
            <p:ph idx="3"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48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48"/>
          <p:cNvSpPr txBox="1"/>
          <p:nvPr>
            <p:ph idx="1"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95" name="Google Shape;195;p48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96" name="Google Shape;196;p48"/>
          <p:cNvSpPr txBox="1"/>
          <p:nvPr>
            <p:ph idx="3"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49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9" name="Google Shape;199;p49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00" name="Google Shape;200;p49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01" name="Google Shape;201;p49"/>
          <p:cNvSpPr txBox="1"/>
          <p:nvPr>
            <p:ph idx="3"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50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" name="Google Shape;204;p50"/>
          <p:cNvSpPr txBox="1"/>
          <p:nvPr>
            <p:ph idx="1"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05" name="Google Shape;205;p50"/>
          <p:cNvSpPr txBox="1"/>
          <p:nvPr>
            <p:ph idx="2"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51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8" name="Google Shape;208;p51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09" name="Google Shape;209;p51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10" name="Google Shape;210;p51"/>
          <p:cNvSpPr txBox="1"/>
          <p:nvPr>
            <p:ph idx="3"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11" name="Google Shape;211;p51"/>
          <p:cNvSpPr txBox="1"/>
          <p:nvPr>
            <p:ph idx="4"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52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4" name="Google Shape;214;p52"/>
          <p:cNvSpPr txBox="1"/>
          <p:nvPr>
            <p:ph idx="1"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15" name="Google Shape;215;p52"/>
          <p:cNvSpPr txBox="1"/>
          <p:nvPr>
            <p:ph idx="2"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16" name="Google Shape;216;p52"/>
          <p:cNvSpPr txBox="1"/>
          <p:nvPr>
            <p:ph idx="3"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17" name="Google Shape;217;p52"/>
          <p:cNvSpPr txBox="1"/>
          <p:nvPr>
            <p:ph idx="4"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18" name="Google Shape;218;p52"/>
          <p:cNvSpPr txBox="1"/>
          <p:nvPr>
            <p:ph idx="5"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19" name="Google Shape;219;p52"/>
          <p:cNvSpPr txBox="1"/>
          <p:nvPr>
            <p:ph idx="6"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4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3" Type="http://schemas.openxmlformats.org/officeDocument/2006/relationships/theme" Target="../theme/theme5.xml"/><Relationship Id="rId1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34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2.xml"/></Relationships>
</file>

<file path=ppt/slideMasters/_rels/slideMaster4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47.xml"/><Relationship Id="rId10" Type="http://schemas.openxmlformats.org/officeDocument/2006/relationships/slideLayout" Target="../slideLayouts/slideLayout46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48.xml"/><Relationship Id="rId1" Type="http://schemas.openxmlformats.org/officeDocument/2006/relationships/slideLayout" Target="../slideLayouts/slideLayout37.xml"/><Relationship Id="rId2" Type="http://schemas.openxmlformats.org/officeDocument/2006/relationships/slideLayout" Target="../slideLayouts/slideLayout38.xml"/><Relationship Id="rId3" Type="http://schemas.openxmlformats.org/officeDocument/2006/relationships/slideLayout" Target="../slideLayouts/slideLayout39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5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3.xml"/><Relationship Id="rId8" Type="http://schemas.openxmlformats.org/officeDocument/2006/relationships/slideLayout" Target="../slideLayouts/slideLayout4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0" type="dt"/>
          </p:nvPr>
        </p:nvSpPr>
        <p:spPr>
          <a:xfrm>
            <a:off x="457200" y="6356520"/>
            <a:ext cx="2133720" cy="365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p1"/>
          <p:cNvSpPr txBox="1"/>
          <p:nvPr>
            <p:ph idx="11" type="ftr"/>
          </p:nvPr>
        </p:nvSpPr>
        <p:spPr>
          <a:xfrm>
            <a:off x="3124080" y="6356520"/>
            <a:ext cx="2895480" cy="36504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6553080" y="6356520"/>
            <a:ext cx="2133720" cy="365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" name="Google Shape;9;p1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0" name="Google Shape;10;p1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457200" y="27468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2" name="Google Shape;62;p14"/>
          <p:cNvSpPr txBox="1"/>
          <p:nvPr>
            <p:ph idx="10" type="dt"/>
          </p:nvPr>
        </p:nvSpPr>
        <p:spPr>
          <a:xfrm>
            <a:off x="457200" y="6356520"/>
            <a:ext cx="2133720" cy="365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3" name="Google Shape;63;p14"/>
          <p:cNvSpPr txBox="1"/>
          <p:nvPr>
            <p:ph idx="11" type="ftr"/>
          </p:nvPr>
        </p:nvSpPr>
        <p:spPr>
          <a:xfrm>
            <a:off x="3124080" y="6356520"/>
            <a:ext cx="2895480" cy="36504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4" name="Google Shape;64;p14"/>
          <p:cNvSpPr txBox="1"/>
          <p:nvPr>
            <p:ph idx="12" type="sldNum"/>
          </p:nvPr>
        </p:nvSpPr>
        <p:spPr>
          <a:xfrm>
            <a:off x="6553080" y="6356520"/>
            <a:ext cx="2133720" cy="365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7"/>
          <p:cNvSpPr txBox="1"/>
          <p:nvPr>
            <p:ph type="title"/>
          </p:nvPr>
        </p:nvSpPr>
        <p:spPr>
          <a:xfrm>
            <a:off x="685800" y="2130480"/>
            <a:ext cx="7772400" cy="146988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15" name="Google Shape;115;p27"/>
          <p:cNvSpPr txBox="1"/>
          <p:nvPr>
            <p:ph idx="10" type="dt"/>
          </p:nvPr>
        </p:nvSpPr>
        <p:spPr>
          <a:xfrm>
            <a:off x="457200" y="6356520"/>
            <a:ext cx="2133720" cy="365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16" name="Google Shape;116;p27"/>
          <p:cNvSpPr txBox="1"/>
          <p:nvPr>
            <p:ph idx="11" type="ftr"/>
          </p:nvPr>
        </p:nvSpPr>
        <p:spPr>
          <a:xfrm>
            <a:off x="3124080" y="6356520"/>
            <a:ext cx="2895480" cy="36504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17" name="Google Shape;117;p27"/>
          <p:cNvSpPr txBox="1"/>
          <p:nvPr>
            <p:ph idx="12" type="sldNum"/>
          </p:nvPr>
        </p:nvSpPr>
        <p:spPr>
          <a:xfrm>
            <a:off x="6553080" y="6356520"/>
            <a:ext cx="2133720" cy="365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40"/>
          <p:cNvSpPr txBox="1"/>
          <p:nvPr>
            <p:ph type="title"/>
          </p:nvPr>
        </p:nvSpPr>
        <p:spPr>
          <a:xfrm>
            <a:off x="457200" y="27468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68" name="Google Shape;168;p40"/>
          <p:cNvSpPr txBox="1"/>
          <p:nvPr>
            <p:ph idx="2" type="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69" name="Google Shape;169;p40"/>
          <p:cNvSpPr txBox="1"/>
          <p:nvPr>
            <p:ph idx="10" type="dt"/>
          </p:nvPr>
        </p:nvSpPr>
        <p:spPr>
          <a:xfrm>
            <a:off x="457200" y="6356520"/>
            <a:ext cx="2133720" cy="365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70" name="Google Shape;170;p40"/>
          <p:cNvSpPr txBox="1"/>
          <p:nvPr>
            <p:ph idx="11" type="ftr"/>
          </p:nvPr>
        </p:nvSpPr>
        <p:spPr>
          <a:xfrm>
            <a:off x="3124080" y="6356520"/>
            <a:ext cx="2895480" cy="36504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71" name="Google Shape;171;p40"/>
          <p:cNvSpPr txBox="1"/>
          <p:nvPr>
            <p:ph idx="12" type="sldNum"/>
          </p:nvPr>
        </p:nvSpPr>
        <p:spPr>
          <a:xfrm>
            <a:off x="6553080" y="6356520"/>
            <a:ext cx="2133720" cy="365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  <p:sldLayoutId id="2147483695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5.png"/><Relationship Id="rId5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19.png"/><Relationship Id="rId5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image" Target="../media/image20.png"/><Relationship Id="rId5" Type="http://schemas.openxmlformats.org/officeDocument/2006/relationships/image" Target="../media/image29.png"/><Relationship Id="rId6" Type="http://schemas.openxmlformats.org/officeDocument/2006/relationships/image" Target="../media/image2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Relationship Id="rId4" Type="http://schemas.openxmlformats.org/officeDocument/2006/relationships/image" Target="../media/image22.png"/><Relationship Id="rId5" Type="http://schemas.openxmlformats.org/officeDocument/2006/relationships/image" Target="../media/image2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Relationship Id="rId4" Type="http://schemas.openxmlformats.org/officeDocument/2006/relationships/image" Target="../media/image33.png"/><Relationship Id="rId5" Type="http://schemas.openxmlformats.org/officeDocument/2006/relationships/image" Target="../media/image2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1.png"/><Relationship Id="rId4" Type="http://schemas.openxmlformats.org/officeDocument/2006/relationships/image" Target="../media/image30.png"/><Relationship Id="rId5" Type="http://schemas.openxmlformats.org/officeDocument/2006/relationships/image" Target="../media/image39.png"/><Relationship Id="rId6" Type="http://schemas.openxmlformats.org/officeDocument/2006/relationships/image" Target="../media/image38.png"/><Relationship Id="rId7" Type="http://schemas.openxmlformats.org/officeDocument/2006/relationships/image" Target="../media/image3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Relationship Id="rId4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4" name="Google Shape;224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40" y="485640"/>
            <a:ext cx="11030040" cy="5886360"/>
          </a:xfrm>
          <a:prstGeom prst="rect">
            <a:avLst/>
          </a:prstGeom>
          <a:noFill/>
          <a:ln>
            <a:noFill/>
          </a:ln>
          <a:effectLst>
            <a:outerShdw dir="5400000" dist="23040">
              <a:srgbClr val="000000">
                <a:alpha val="34902"/>
              </a:srgbClr>
            </a:outerShdw>
          </a:effectLst>
        </p:spPr>
      </p:pic>
      <p:pic>
        <p:nvPicPr>
          <p:cNvPr descr="image.png" id="225" name="Google Shape;225;p5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40" y="4525200"/>
            <a:ext cx="11030040" cy="714240"/>
          </a:xfrm>
          <a:prstGeom prst="rect">
            <a:avLst/>
          </a:prstGeom>
          <a:noFill/>
          <a:ln>
            <a:noFill/>
          </a:ln>
          <a:effectLst>
            <a:outerShdw dir="5400000" dist="23040">
              <a:srgbClr val="000000">
                <a:alpha val="34902"/>
              </a:srgbClr>
            </a:outerShdw>
          </a:effectLst>
        </p:spPr>
      </p:pic>
      <p:pic>
        <p:nvPicPr>
          <p:cNvPr descr="image.png" id="226" name="Google Shape;226;p5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40" y="1618200"/>
            <a:ext cx="11030040" cy="237960"/>
          </a:xfrm>
          <a:prstGeom prst="rect">
            <a:avLst/>
          </a:prstGeom>
          <a:noFill/>
          <a:ln>
            <a:noFill/>
          </a:ln>
          <a:effectLst>
            <a:outerShdw dir="5400000" dist="23040">
              <a:srgbClr val="000000">
                <a:alpha val="34902"/>
              </a:srgbClr>
            </a:outerShdw>
          </a:effectLst>
        </p:spPr>
      </p:pic>
      <p:sp>
        <p:nvSpPr>
          <p:cNvPr id="227" name="Google Shape;227;p53"/>
          <p:cNvSpPr txBox="1"/>
          <p:nvPr/>
        </p:nvSpPr>
        <p:spPr>
          <a:xfrm>
            <a:off x="581040" y="1999440"/>
            <a:ext cx="11581560" cy="1173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Infraestrutura de Serviços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-US" sz="4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de Rede Organizacional</a:t>
            </a:r>
            <a:endParaRPr b="0" i="0" sz="4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53"/>
          <p:cNvSpPr txBox="1"/>
          <p:nvPr/>
        </p:nvSpPr>
        <p:spPr>
          <a:xfrm>
            <a:off x="581040" y="3363120"/>
            <a:ext cx="9001080" cy="686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Integração de Firewall OPNsense, Resolução DNS, DHCP Dinâmico, Web Server WordPress com Redis, Nagios Core e SIEM Wazuh.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53"/>
          <p:cNvSpPr txBox="1"/>
          <p:nvPr/>
        </p:nvSpPr>
        <p:spPr>
          <a:xfrm>
            <a:off x="581040" y="4830120"/>
            <a:ext cx="3486240" cy="184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Aluno : </a:t>
            </a:r>
            <a:r>
              <a:rPr b="0" i="0" lang="en-US" sz="1200" u="none" cap="none" strike="noStrike">
                <a:solidFill>
                  <a:srgbClr val="111827"/>
                </a:solidFill>
                <a:latin typeface="Inter Medium"/>
                <a:ea typeface="Inter Medium"/>
                <a:cs typeface="Inter Medium"/>
                <a:sym typeface="Inter Medium"/>
              </a:rPr>
              <a:t>David Cadel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53"/>
          <p:cNvSpPr txBox="1"/>
          <p:nvPr/>
        </p:nvSpPr>
        <p:spPr>
          <a:xfrm>
            <a:off x="4338360" y="4815720"/>
            <a:ext cx="3486240" cy="36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Curso / Instituição</a:t>
            </a:r>
            <a:br>
              <a:rPr b="0" i="0" lang="en-US" sz="1800" u="none" cap="none" strike="noStrike"/>
            </a:br>
            <a:r>
              <a:rPr b="0" i="0" lang="en-US" sz="1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 </a:t>
            </a:r>
            <a:r>
              <a:rPr b="0" i="0" lang="en-US" sz="1200" u="none" cap="none" strike="noStrike">
                <a:solidFill>
                  <a:srgbClr val="111827"/>
                </a:solidFill>
                <a:latin typeface="Inter Medium"/>
                <a:ea typeface="Inter Medium"/>
                <a:cs typeface="Inter Medium"/>
                <a:sym typeface="Inter Medium"/>
              </a:rPr>
              <a:t>CTeSP em Cibersegurança · ISTEC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53"/>
          <p:cNvSpPr txBox="1"/>
          <p:nvPr/>
        </p:nvSpPr>
        <p:spPr>
          <a:xfrm>
            <a:off x="8124840" y="4830120"/>
            <a:ext cx="3486240" cy="36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Unidade Curricular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 </a:t>
            </a:r>
            <a:r>
              <a:rPr b="0" i="0" lang="en-US" sz="1200" u="none" cap="none" strike="noStrike">
                <a:solidFill>
                  <a:srgbClr val="111827"/>
                </a:solidFill>
                <a:latin typeface="Inter Medium"/>
                <a:ea typeface="Inter Medium"/>
                <a:cs typeface="Inter Medium"/>
                <a:sym typeface="Inter Medium"/>
              </a:rPr>
              <a:t>Administração de Serviços de Rede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6" name="Google Shape;236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40" y="1324080"/>
            <a:ext cx="5324400" cy="5048280"/>
          </a:xfrm>
          <a:prstGeom prst="rect">
            <a:avLst/>
          </a:prstGeom>
          <a:noFill/>
          <a:ln>
            <a:noFill/>
          </a:ln>
          <a:effectLst>
            <a:outerShdw dir="5400000" dist="23040">
              <a:srgbClr val="000000">
                <a:alpha val="34902"/>
              </a:srgbClr>
            </a:outerShdw>
          </a:effectLst>
        </p:spPr>
      </p:pic>
      <p:pic>
        <p:nvPicPr>
          <p:cNvPr descr="image.png" id="237" name="Google Shape;237;p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680" y="1324080"/>
            <a:ext cx="5324400" cy="5048280"/>
          </a:xfrm>
          <a:prstGeom prst="rect">
            <a:avLst/>
          </a:prstGeom>
          <a:noFill/>
          <a:ln>
            <a:noFill/>
          </a:ln>
          <a:effectLst>
            <a:outerShdw dir="5400000" dist="23040">
              <a:srgbClr val="000000">
                <a:alpha val="34902"/>
              </a:srgbClr>
            </a:outerShdw>
          </a:effectLst>
        </p:spPr>
      </p:pic>
      <p:sp>
        <p:nvSpPr>
          <p:cNvPr id="238" name="Google Shape;238;p54"/>
          <p:cNvSpPr txBox="1"/>
          <p:nvPr/>
        </p:nvSpPr>
        <p:spPr>
          <a:xfrm>
            <a:off x="581040" y="485640"/>
            <a:ext cx="11581560" cy="40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Enquadramento e Objetivos do Projeto </a:t>
            </a:r>
            <a:r>
              <a:rPr b="0" i="0" lang="en-US" sz="2550" u="none" cap="none" strike="noStrike">
                <a:solidFill>
                  <a:srgbClr val="6B7280"/>
                </a:solidFill>
                <a:latin typeface="Inter Medium"/>
                <a:ea typeface="Inter Medium"/>
                <a:cs typeface="Inter Medium"/>
                <a:sym typeface="Inter Medium"/>
              </a:rPr>
              <a:t>02 / 14</a:t>
            </a:r>
            <a:endParaRPr b="0" i="0" sz="255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54"/>
          <p:cNvSpPr/>
          <p:nvPr/>
        </p:nvSpPr>
        <p:spPr>
          <a:xfrm>
            <a:off x="581040" y="1019160"/>
            <a:ext cx="11030040" cy="1908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111827"/>
          </a:solidFill>
          <a:ln>
            <a:noFill/>
          </a:ln>
        </p:spPr>
      </p:sp>
      <p:sp>
        <p:nvSpPr>
          <p:cNvPr id="240" name="Google Shape;240;p54"/>
          <p:cNvSpPr txBox="1"/>
          <p:nvPr/>
        </p:nvSpPr>
        <p:spPr>
          <a:xfrm>
            <a:off x="923760" y="1762200"/>
            <a:ext cx="4870440" cy="251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Objetivos Principais</a:t>
            </a:r>
            <a:endParaRPr b="0" i="0" sz="165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54"/>
          <p:cNvSpPr txBox="1"/>
          <p:nvPr/>
        </p:nvSpPr>
        <p:spPr>
          <a:xfrm>
            <a:off x="6629400" y="1762200"/>
            <a:ext cx="4870440" cy="251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Requisitos Cumpridos</a:t>
            </a:r>
            <a:endParaRPr b="0" i="0" sz="165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54"/>
          <p:cNvSpPr txBox="1"/>
          <p:nvPr/>
        </p:nvSpPr>
        <p:spPr>
          <a:xfrm>
            <a:off x="1114560" y="2200320"/>
            <a:ext cx="4448160" cy="4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Conceber e implementar uma infraestrutura segura na subnet </a:t>
            </a:r>
            <a:r>
              <a:rPr b="1" i="0" lang="en-US" sz="12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10.10.10.0/24</a:t>
            </a:r>
            <a:r>
              <a:rPr b="0" i="0" lang="en-US" sz="12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54"/>
          <p:cNvSpPr txBox="1"/>
          <p:nvPr/>
        </p:nvSpPr>
        <p:spPr>
          <a:xfrm>
            <a:off x="1114560" y="2830680"/>
            <a:ext cx="4448160" cy="4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Garantir o encaminhamento e controlo de tráfego centralizado através da firewall </a:t>
            </a:r>
            <a:r>
              <a:rPr b="1" i="0" lang="en-US" sz="12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OPNsense</a:t>
            </a:r>
            <a:r>
              <a:rPr b="0" i="0" lang="en-US" sz="12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54"/>
          <p:cNvSpPr txBox="1"/>
          <p:nvPr/>
        </p:nvSpPr>
        <p:spPr>
          <a:xfrm>
            <a:off x="1114560" y="3461040"/>
            <a:ext cx="4448160" cy="4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Configurar serviços essenciais de suporte: </a:t>
            </a:r>
            <a:r>
              <a:rPr b="1" i="0" lang="en-US" sz="12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DNS interno e DHCP</a:t>
            </a:r>
            <a:r>
              <a:rPr b="0" i="0" lang="en-US" sz="12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dinâmico com reserva de IP.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54"/>
          <p:cNvSpPr txBox="1"/>
          <p:nvPr/>
        </p:nvSpPr>
        <p:spPr>
          <a:xfrm>
            <a:off x="1114560" y="4091760"/>
            <a:ext cx="4448160" cy="4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Publicar o servidor Web organizacional (Stack LAMP + WordPress) otimizado com cache em </a:t>
            </a:r>
            <a:r>
              <a:rPr b="1" i="0" lang="en-US" sz="12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Redis</a:t>
            </a:r>
            <a:r>
              <a:rPr b="0" i="0" lang="en-US" sz="12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54"/>
          <p:cNvSpPr txBox="1"/>
          <p:nvPr/>
        </p:nvSpPr>
        <p:spPr>
          <a:xfrm>
            <a:off x="1114560" y="4722120"/>
            <a:ext cx="4448160" cy="4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Implementar monitorização contínua de disponibilidade (</a:t>
            </a:r>
            <a:r>
              <a:rPr b="1" i="0" lang="en-US" sz="12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Nagios Core</a:t>
            </a:r>
            <a:r>
              <a:rPr b="0" i="0" lang="en-US" sz="12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) e auditoria de segurança (</a:t>
            </a:r>
            <a:r>
              <a:rPr b="1" i="0" lang="en-US" sz="12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SIEM Wazuh</a:t>
            </a:r>
            <a:r>
              <a:rPr b="0" i="0" lang="en-US" sz="12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).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54"/>
          <p:cNvSpPr txBox="1"/>
          <p:nvPr/>
        </p:nvSpPr>
        <p:spPr>
          <a:xfrm>
            <a:off x="6819840" y="2200320"/>
            <a:ext cx="4448160" cy="4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Gateway &amp; Firewall:</a:t>
            </a:r>
            <a:r>
              <a:rPr b="0" i="0" lang="en-US" sz="12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OPNsense em 10.10.10.1 com regras de NAT e encaminhamento.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54"/>
          <p:cNvSpPr txBox="1"/>
          <p:nvPr/>
        </p:nvSpPr>
        <p:spPr>
          <a:xfrm>
            <a:off x="6819840" y="2830680"/>
            <a:ext cx="4448160" cy="4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Resolução de Nomes:</a:t>
            </a:r>
            <a:r>
              <a:rPr b="0" i="0" lang="en-US" sz="12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Dnsmasq com suporte a zonas internas (istec.local).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54"/>
          <p:cNvSpPr txBox="1"/>
          <p:nvPr/>
        </p:nvSpPr>
        <p:spPr>
          <a:xfrm>
            <a:off x="6819840" y="3461040"/>
            <a:ext cx="4448160" cy="24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Servidor Núcleo:</a:t>
            </a:r>
            <a:r>
              <a:rPr b="0" i="0" lang="en-US" sz="12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Ubuntu Server em IP fixo (10.10.10.10).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54"/>
          <p:cNvSpPr txBox="1"/>
          <p:nvPr/>
        </p:nvSpPr>
        <p:spPr>
          <a:xfrm>
            <a:off x="6819840" y="3847680"/>
            <a:ext cx="4448160" cy="4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Monitorização Ativa:</a:t>
            </a:r>
            <a:r>
              <a:rPr b="0" i="0" lang="en-US" sz="12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Dashboard Nagios em 10.10.10.30 a validar PING/HTTP/SSH.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54"/>
          <p:cNvSpPr txBox="1"/>
          <p:nvPr/>
        </p:nvSpPr>
        <p:spPr>
          <a:xfrm>
            <a:off x="6819840" y="4478400"/>
            <a:ext cx="4448160" cy="4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Segurança &amp; Logs:</a:t>
            </a:r>
            <a:r>
              <a:rPr b="0" i="0" lang="en-US" sz="12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Agentes Wazuh (10.10.10.40) ativos para auditoria e monitorização FIM.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54"/>
          <p:cNvSpPr txBox="1"/>
          <p:nvPr/>
        </p:nvSpPr>
        <p:spPr>
          <a:xfrm>
            <a:off x="923760" y="2200320"/>
            <a:ext cx="152280" cy="247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—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54"/>
          <p:cNvSpPr txBox="1"/>
          <p:nvPr/>
        </p:nvSpPr>
        <p:spPr>
          <a:xfrm>
            <a:off x="923760" y="2830680"/>
            <a:ext cx="152280" cy="247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—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54"/>
          <p:cNvSpPr txBox="1"/>
          <p:nvPr/>
        </p:nvSpPr>
        <p:spPr>
          <a:xfrm>
            <a:off x="923760" y="3461040"/>
            <a:ext cx="152280" cy="247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—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54"/>
          <p:cNvSpPr txBox="1"/>
          <p:nvPr/>
        </p:nvSpPr>
        <p:spPr>
          <a:xfrm>
            <a:off x="923760" y="4091760"/>
            <a:ext cx="152280" cy="247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—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54"/>
          <p:cNvSpPr txBox="1"/>
          <p:nvPr/>
        </p:nvSpPr>
        <p:spPr>
          <a:xfrm>
            <a:off x="923760" y="4722120"/>
            <a:ext cx="152280" cy="247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—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54"/>
          <p:cNvSpPr txBox="1"/>
          <p:nvPr/>
        </p:nvSpPr>
        <p:spPr>
          <a:xfrm>
            <a:off x="6629400" y="2200320"/>
            <a:ext cx="152280" cy="247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—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54"/>
          <p:cNvSpPr txBox="1"/>
          <p:nvPr/>
        </p:nvSpPr>
        <p:spPr>
          <a:xfrm>
            <a:off x="6629400" y="2830680"/>
            <a:ext cx="152280" cy="247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—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54"/>
          <p:cNvSpPr txBox="1"/>
          <p:nvPr/>
        </p:nvSpPr>
        <p:spPr>
          <a:xfrm>
            <a:off x="6629400" y="3461040"/>
            <a:ext cx="152280" cy="247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—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54"/>
          <p:cNvSpPr txBox="1"/>
          <p:nvPr/>
        </p:nvSpPr>
        <p:spPr>
          <a:xfrm>
            <a:off x="6629400" y="3847680"/>
            <a:ext cx="152280" cy="247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—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54"/>
          <p:cNvSpPr txBox="1"/>
          <p:nvPr/>
        </p:nvSpPr>
        <p:spPr>
          <a:xfrm>
            <a:off x="6629400" y="4478400"/>
            <a:ext cx="152280" cy="247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—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6" name="Google Shape;266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40" y="1324080"/>
            <a:ext cx="11030040" cy="5048280"/>
          </a:xfrm>
          <a:prstGeom prst="rect">
            <a:avLst/>
          </a:prstGeom>
          <a:noFill/>
          <a:ln>
            <a:noFill/>
          </a:ln>
          <a:effectLst>
            <a:outerShdw dir="5400000" dist="23040">
              <a:srgbClr val="000000">
                <a:alpha val="34902"/>
              </a:srgbClr>
            </a:outerShdw>
          </a:effectLst>
        </p:spPr>
      </p:pic>
      <p:sp>
        <p:nvSpPr>
          <p:cNvPr id="267" name="Google Shape;267;p55"/>
          <p:cNvSpPr txBox="1"/>
          <p:nvPr/>
        </p:nvSpPr>
        <p:spPr>
          <a:xfrm>
            <a:off x="581040" y="485640"/>
            <a:ext cx="11581560" cy="40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Arquitetura e Topologia da Rede </a:t>
            </a:r>
            <a:r>
              <a:rPr b="0" i="0" lang="en-US" sz="2550" u="none" cap="none" strike="noStrike">
                <a:solidFill>
                  <a:srgbClr val="6B7280"/>
                </a:solidFill>
                <a:latin typeface="Inter Medium"/>
                <a:ea typeface="Inter Medium"/>
                <a:cs typeface="Inter Medium"/>
                <a:sym typeface="Inter Medium"/>
              </a:rPr>
              <a:t>03 / 14</a:t>
            </a:r>
            <a:endParaRPr b="0" i="0" sz="255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55"/>
          <p:cNvSpPr/>
          <p:nvPr/>
        </p:nvSpPr>
        <p:spPr>
          <a:xfrm>
            <a:off x="581040" y="1019160"/>
            <a:ext cx="11030040" cy="1908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111827"/>
          </a:solidFill>
          <a:ln>
            <a:noFill/>
          </a:ln>
        </p:spPr>
      </p:sp>
      <p:sp>
        <p:nvSpPr>
          <p:cNvPr id="269" name="Google Shape;269;p55"/>
          <p:cNvSpPr txBox="1"/>
          <p:nvPr/>
        </p:nvSpPr>
        <p:spPr>
          <a:xfrm>
            <a:off x="876240" y="2368080"/>
            <a:ext cx="10439280" cy="274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B5563"/>
                </a:solidFill>
                <a:latin typeface="Inter Medium"/>
                <a:ea typeface="Inter Medium"/>
                <a:cs typeface="Inter Medium"/>
                <a:sym typeface="Inter Medium"/>
              </a:rPr>
              <a:t>Estrutura física e lógica da LAN corporativa</a:t>
            </a:r>
            <a:endParaRPr b="0" i="0" sz="135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55"/>
          <p:cNvSpPr txBox="1"/>
          <p:nvPr/>
        </p:nvSpPr>
        <p:spPr>
          <a:xfrm>
            <a:off x="876240" y="2832840"/>
            <a:ext cx="10439280" cy="487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Esquema de endereçamento IP e atribuição de papéis aos servidores configurados na rede interna. A infraestrutura baseia-se na subnet primária </a:t>
            </a:r>
            <a:r>
              <a:rPr b="1" i="0" lang="en-US" sz="12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10.10.10.0/24</a:t>
            </a:r>
            <a:r>
              <a:rPr b="0" i="0" lang="en-US" sz="12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55"/>
          <p:cNvSpPr txBox="1"/>
          <p:nvPr/>
        </p:nvSpPr>
        <p:spPr>
          <a:xfrm>
            <a:off x="1066680" y="3558600"/>
            <a:ext cx="4838760" cy="487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OPNsense Gateway:</a:t>
            </a:r>
            <a:r>
              <a:rPr b="0" i="0" lang="en-US" sz="12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10.10.10.1/24 (Interligação WAN/LAN e firewalling)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55"/>
          <p:cNvSpPr txBox="1"/>
          <p:nvPr/>
        </p:nvSpPr>
        <p:spPr>
          <a:xfrm>
            <a:off x="1066680" y="4188960"/>
            <a:ext cx="4838760" cy="487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srv-core (Web/WP/Redis):</a:t>
            </a:r>
            <a:r>
              <a:rPr b="0" i="0" lang="en-US" sz="12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10.10.10.10 (Serviços aplicacionais core)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55"/>
          <p:cNvSpPr txBox="1"/>
          <p:nvPr/>
        </p:nvSpPr>
        <p:spPr>
          <a:xfrm>
            <a:off x="1066680" y="4819680"/>
            <a:ext cx="4838760" cy="24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SVR-NAGIOS (Monitorização):</a:t>
            </a:r>
            <a:r>
              <a:rPr b="0" i="0" lang="en-US" sz="12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10.10.10.30 (Supervisão contínua)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55"/>
          <p:cNvSpPr txBox="1"/>
          <p:nvPr/>
        </p:nvSpPr>
        <p:spPr>
          <a:xfrm>
            <a:off x="6477120" y="3558600"/>
            <a:ext cx="4838760" cy="487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srv-wazuh (SIEM Security):</a:t>
            </a:r>
            <a:r>
              <a:rPr b="0" i="0" lang="en-US" sz="12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10.10.10.40 (Central de logs e eventos)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55"/>
          <p:cNvSpPr txBox="1"/>
          <p:nvPr/>
        </p:nvSpPr>
        <p:spPr>
          <a:xfrm>
            <a:off x="6477120" y="4188960"/>
            <a:ext cx="4838760" cy="487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Gama DHCP Dinâmica:</a:t>
            </a:r>
            <a:r>
              <a:rPr b="0" i="0" lang="en-US" sz="12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10.10.10.100 - 10.10.10.200 (Atribuição a clientes)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55"/>
          <p:cNvSpPr txBox="1"/>
          <p:nvPr/>
        </p:nvSpPr>
        <p:spPr>
          <a:xfrm>
            <a:off x="6477120" y="4819680"/>
            <a:ext cx="4838760" cy="487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Cliente Ubuntu Desktop:</a:t>
            </a:r>
            <a:r>
              <a:rPr b="0" i="0" lang="en-US" sz="12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10.10.10.200 (Máquina de testes/validação)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55"/>
          <p:cNvSpPr txBox="1"/>
          <p:nvPr/>
        </p:nvSpPr>
        <p:spPr>
          <a:xfrm>
            <a:off x="876240" y="3558600"/>
            <a:ext cx="152280" cy="247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—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55"/>
          <p:cNvSpPr txBox="1"/>
          <p:nvPr/>
        </p:nvSpPr>
        <p:spPr>
          <a:xfrm>
            <a:off x="876240" y="4188960"/>
            <a:ext cx="152280" cy="247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—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55"/>
          <p:cNvSpPr txBox="1"/>
          <p:nvPr/>
        </p:nvSpPr>
        <p:spPr>
          <a:xfrm>
            <a:off x="876240" y="4819680"/>
            <a:ext cx="152280" cy="247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—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55"/>
          <p:cNvSpPr txBox="1"/>
          <p:nvPr/>
        </p:nvSpPr>
        <p:spPr>
          <a:xfrm>
            <a:off x="6286680" y="3558600"/>
            <a:ext cx="152280" cy="247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—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55"/>
          <p:cNvSpPr txBox="1"/>
          <p:nvPr/>
        </p:nvSpPr>
        <p:spPr>
          <a:xfrm>
            <a:off x="6286680" y="4188960"/>
            <a:ext cx="152280" cy="247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—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55"/>
          <p:cNvSpPr txBox="1"/>
          <p:nvPr/>
        </p:nvSpPr>
        <p:spPr>
          <a:xfrm>
            <a:off x="6286680" y="4819680"/>
            <a:ext cx="152280" cy="247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—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" name="Google Shape;287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190880"/>
            <a:ext cx="12192120" cy="5666400"/>
          </a:xfrm>
          <a:prstGeom prst="rect">
            <a:avLst/>
          </a:prstGeom>
          <a:noFill/>
          <a:ln>
            <a:noFill/>
          </a:ln>
          <a:effectLst>
            <a:outerShdw dir="5400000" dist="23040">
              <a:srgbClr val="000000">
                <a:alpha val="34902"/>
              </a:srgbClr>
            </a:outerShdw>
          </a:effectLst>
        </p:spPr>
      </p:pic>
      <p:sp>
        <p:nvSpPr>
          <p:cNvPr id="288" name="Google Shape;288;p56"/>
          <p:cNvSpPr txBox="1"/>
          <p:nvPr/>
        </p:nvSpPr>
        <p:spPr>
          <a:xfrm>
            <a:off x="504000" y="518040"/>
            <a:ext cx="2743200" cy="366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Mapa de rede :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3" name="Google Shape;293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6680" y="1562040"/>
            <a:ext cx="5324400" cy="4572000"/>
          </a:xfrm>
          <a:prstGeom prst="rect">
            <a:avLst/>
          </a:prstGeom>
          <a:noFill/>
          <a:ln>
            <a:noFill/>
          </a:ln>
          <a:effectLst>
            <a:outerShdw dir="5400000" dist="23040">
              <a:srgbClr val="000000">
                <a:alpha val="34902"/>
              </a:srgbClr>
            </a:outerShdw>
          </a:effectLst>
        </p:spPr>
      </p:pic>
      <p:sp>
        <p:nvSpPr>
          <p:cNvPr id="294" name="Google Shape;294;p57"/>
          <p:cNvSpPr txBox="1"/>
          <p:nvPr/>
        </p:nvSpPr>
        <p:spPr>
          <a:xfrm>
            <a:off x="581040" y="485640"/>
            <a:ext cx="11581560" cy="40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Firewall e Gateway (OPNsense) </a:t>
            </a:r>
            <a:r>
              <a:rPr b="0" i="0" lang="en-US" sz="2550" u="none" cap="none" strike="noStrike">
                <a:solidFill>
                  <a:srgbClr val="6B7280"/>
                </a:solidFill>
                <a:latin typeface="Inter Medium"/>
                <a:ea typeface="Inter Medium"/>
                <a:cs typeface="Inter Medium"/>
                <a:sym typeface="Inter Medium"/>
              </a:rPr>
              <a:t>04 / 14</a:t>
            </a:r>
            <a:endParaRPr b="0" i="0" sz="255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57"/>
          <p:cNvSpPr/>
          <p:nvPr/>
        </p:nvSpPr>
        <p:spPr>
          <a:xfrm>
            <a:off x="581040" y="1019160"/>
            <a:ext cx="11030040" cy="1908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111827"/>
          </a:solidFill>
          <a:ln>
            <a:noFill/>
          </a:ln>
        </p:spPr>
      </p:sp>
      <p:pic>
        <p:nvPicPr>
          <p:cNvPr descr="image.png" id="296" name="Google Shape;296;p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40" y="2228040"/>
            <a:ext cx="981000" cy="237960"/>
          </a:xfrm>
          <a:prstGeom prst="rect">
            <a:avLst/>
          </a:prstGeom>
          <a:noFill/>
          <a:ln>
            <a:noFill/>
          </a:ln>
          <a:effectLst>
            <a:outerShdw dir="5400000" dist="23040">
              <a:srgbClr val="000000">
                <a:alpha val="34902"/>
              </a:srgbClr>
            </a:outerShdw>
          </a:effectLst>
        </p:spPr>
      </p:pic>
      <p:sp>
        <p:nvSpPr>
          <p:cNvPr id="297" name="Google Shape;297;p57"/>
          <p:cNvSpPr txBox="1"/>
          <p:nvPr/>
        </p:nvSpPr>
        <p:spPr>
          <a:xfrm>
            <a:off x="581040" y="2704320"/>
            <a:ext cx="5590800" cy="251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Atribuição WAN e LAN</a:t>
            </a:r>
            <a:endParaRPr b="0" i="0" sz="165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57"/>
          <p:cNvSpPr txBox="1"/>
          <p:nvPr/>
        </p:nvSpPr>
        <p:spPr>
          <a:xfrm>
            <a:off x="581040" y="3142440"/>
            <a:ext cx="5324400" cy="73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Configuração inicial do OPNsense para atuar como o gateway principal da organização, realizando a gestão rigorosa das interfaces físicas e o NAT de saída.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99" name="Google Shape;299;p5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76680" y="708840"/>
            <a:ext cx="5129280" cy="6191280"/>
          </a:xfrm>
          <a:prstGeom prst="rect">
            <a:avLst/>
          </a:prstGeom>
          <a:noFill/>
          <a:ln>
            <a:noFill/>
          </a:ln>
          <a:effectLst>
            <a:outerShdw dir="5400000" dist="23040">
              <a:srgbClr val="000000">
                <a:alpha val="34902"/>
              </a:srgbClr>
            </a:outerShdw>
          </a:effectLst>
        </p:spPr>
      </p:pic>
      <p:sp>
        <p:nvSpPr>
          <p:cNvPr id="300" name="Google Shape;300;p57"/>
          <p:cNvSpPr txBox="1"/>
          <p:nvPr/>
        </p:nvSpPr>
        <p:spPr>
          <a:xfrm>
            <a:off x="771480" y="4064400"/>
            <a:ext cx="5133960" cy="24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Interface WAN associada em DHCP para acesso externo à Internet.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57"/>
          <p:cNvSpPr txBox="1"/>
          <p:nvPr/>
        </p:nvSpPr>
        <p:spPr>
          <a:xfrm>
            <a:off x="771480" y="4451040"/>
            <a:ext cx="5133960" cy="24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Interface LAN configurada com IP estático 10.10.10.1/24.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57"/>
          <p:cNvSpPr txBox="1"/>
          <p:nvPr/>
        </p:nvSpPr>
        <p:spPr>
          <a:xfrm>
            <a:off x="771480" y="4837680"/>
            <a:ext cx="5133960" cy="4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Ativação de regras de Outbound NAT para garantir o encaminhamento correto do tráfego.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57"/>
          <p:cNvSpPr txBox="1"/>
          <p:nvPr/>
        </p:nvSpPr>
        <p:spPr>
          <a:xfrm>
            <a:off x="581040" y="4064400"/>
            <a:ext cx="152280" cy="247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—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57"/>
          <p:cNvSpPr txBox="1"/>
          <p:nvPr/>
        </p:nvSpPr>
        <p:spPr>
          <a:xfrm>
            <a:off x="581040" y="4451040"/>
            <a:ext cx="152280" cy="247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—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57"/>
          <p:cNvSpPr txBox="1"/>
          <p:nvPr/>
        </p:nvSpPr>
        <p:spPr>
          <a:xfrm>
            <a:off x="581040" y="4837680"/>
            <a:ext cx="152280" cy="247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—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8"/>
          <p:cNvSpPr txBox="1"/>
          <p:nvPr/>
        </p:nvSpPr>
        <p:spPr>
          <a:xfrm>
            <a:off x="581040" y="485640"/>
            <a:ext cx="11581560" cy="40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Conectividade OPNsense (Evidência) </a:t>
            </a:r>
            <a:r>
              <a:rPr b="0" i="0" lang="en-US" sz="2550" u="none" cap="none" strike="noStrike">
                <a:solidFill>
                  <a:srgbClr val="6B7280"/>
                </a:solidFill>
                <a:latin typeface="Inter Medium"/>
                <a:ea typeface="Inter Medium"/>
                <a:cs typeface="Inter Medium"/>
                <a:sym typeface="Inter Medium"/>
              </a:rPr>
              <a:t>05 / 14</a:t>
            </a:r>
            <a:endParaRPr b="0" i="0" sz="255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58"/>
          <p:cNvSpPr/>
          <p:nvPr/>
        </p:nvSpPr>
        <p:spPr>
          <a:xfrm>
            <a:off x="581040" y="1019160"/>
            <a:ext cx="11030040" cy="1908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111827"/>
          </a:solidFill>
          <a:ln>
            <a:noFill/>
          </a:ln>
        </p:spPr>
      </p:sp>
      <p:pic>
        <p:nvPicPr>
          <p:cNvPr descr="image.png" id="312" name="Google Shape;312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0" y="1704960"/>
            <a:ext cx="1800360" cy="237960"/>
          </a:xfrm>
          <a:prstGeom prst="rect">
            <a:avLst/>
          </a:prstGeom>
          <a:noFill/>
          <a:ln>
            <a:noFill/>
          </a:ln>
          <a:effectLst>
            <a:outerShdw dir="5400000" dist="23040">
              <a:srgbClr val="000000">
                <a:alpha val="34902"/>
              </a:srgbClr>
            </a:outerShdw>
          </a:effectLst>
        </p:spPr>
      </p:pic>
      <p:sp>
        <p:nvSpPr>
          <p:cNvPr id="313" name="Google Shape;313;p58"/>
          <p:cNvSpPr txBox="1"/>
          <p:nvPr/>
        </p:nvSpPr>
        <p:spPr>
          <a:xfrm>
            <a:off x="2286000" y="2181240"/>
            <a:ext cx="8001000" cy="251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Teste de Ping de Saída para a Internet</a:t>
            </a:r>
            <a:endParaRPr b="0" i="0" sz="165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58"/>
          <p:cNvSpPr txBox="1"/>
          <p:nvPr/>
        </p:nvSpPr>
        <p:spPr>
          <a:xfrm>
            <a:off x="2286000" y="2619360"/>
            <a:ext cx="7620120" cy="4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Execução do teste de conectividade externa a partir da opção de diagnóstico da consola do OPNsense, direcionado ao servidor DNS público da Google (8.8.8.8).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58"/>
          <p:cNvSpPr txBox="1"/>
          <p:nvPr/>
        </p:nvSpPr>
        <p:spPr>
          <a:xfrm>
            <a:off x="2286000" y="6269400"/>
            <a:ext cx="7620120" cy="24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Inter Medium"/>
                <a:ea typeface="Inter Medium"/>
                <a:cs typeface="Inter Medium"/>
                <a:sym typeface="Inter Medium"/>
              </a:rPr>
              <a:t>Resultado: Validação bem-sucedida da ligação à WAN sem perda de pacotes.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6" name="Google Shape;316;p58"/>
          <p:cNvPicPr preferRelativeResize="0"/>
          <p:nvPr/>
        </p:nvPicPr>
        <p:blipFill rotWithShape="1">
          <a:blip r:embed="rId4">
            <a:alphaModFix/>
          </a:blip>
          <a:srcRect b="190" l="0" r="-105" t="46555"/>
          <a:stretch/>
        </p:blipFill>
        <p:spPr>
          <a:xfrm>
            <a:off x="2289240" y="3432240"/>
            <a:ext cx="6836760" cy="2013840"/>
          </a:xfrm>
          <a:prstGeom prst="rect">
            <a:avLst/>
          </a:prstGeom>
          <a:noFill/>
          <a:ln>
            <a:noFill/>
          </a:ln>
          <a:effectLst>
            <a:outerShdw dir="5400000" dist="23040">
              <a:srgbClr val="000000">
                <a:alpha val="34902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1" name="Google Shape;321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6680" y="1562040"/>
            <a:ext cx="5324400" cy="4572000"/>
          </a:xfrm>
          <a:prstGeom prst="rect">
            <a:avLst/>
          </a:prstGeom>
          <a:noFill/>
          <a:ln>
            <a:noFill/>
          </a:ln>
          <a:effectLst>
            <a:outerShdw dir="5400000" dist="23040">
              <a:srgbClr val="000000">
                <a:alpha val="34902"/>
              </a:srgbClr>
            </a:outerShdw>
          </a:effectLst>
        </p:spPr>
      </p:pic>
      <p:sp>
        <p:nvSpPr>
          <p:cNvPr id="322" name="Google Shape;322;p59"/>
          <p:cNvSpPr txBox="1"/>
          <p:nvPr/>
        </p:nvSpPr>
        <p:spPr>
          <a:xfrm>
            <a:off x="581040" y="485640"/>
            <a:ext cx="11581560" cy="40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Servidor Ubuntu Núcleo (srv-core) </a:t>
            </a:r>
            <a:r>
              <a:rPr b="0" i="0" lang="en-US" sz="2550" u="none" cap="none" strike="noStrike">
                <a:solidFill>
                  <a:srgbClr val="6B7280"/>
                </a:solidFill>
                <a:latin typeface="Inter Medium"/>
                <a:ea typeface="Inter Medium"/>
                <a:cs typeface="Inter Medium"/>
                <a:sym typeface="Inter Medium"/>
              </a:rPr>
              <a:t>06 / 14</a:t>
            </a:r>
            <a:endParaRPr b="0" i="0" sz="255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59"/>
          <p:cNvSpPr/>
          <p:nvPr/>
        </p:nvSpPr>
        <p:spPr>
          <a:xfrm>
            <a:off x="581040" y="1019160"/>
            <a:ext cx="11030040" cy="1908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111827"/>
          </a:solidFill>
          <a:ln>
            <a:noFill/>
          </a:ln>
        </p:spPr>
      </p:sp>
      <p:pic>
        <p:nvPicPr>
          <p:cNvPr descr="image.png" id="324" name="Google Shape;324;p5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40" y="2228040"/>
            <a:ext cx="1000080" cy="237960"/>
          </a:xfrm>
          <a:prstGeom prst="rect">
            <a:avLst/>
          </a:prstGeom>
          <a:noFill/>
          <a:ln>
            <a:noFill/>
          </a:ln>
          <a:effectLst>
            <a:outerShdw dir="5400000" dist="23040">
              <a:srgbClr val="000000">
                <a:alpha val="34902"/>
              </a:srgbClr>
            </a:outerShdw>
          </a:effectLst>
        </p:spPr>
      </p:pic>
      <p:sp>
        <p:nvSpPr>
          <p:cNvPr id="325" name="Google Shape;325;p59"/>
          <p:cNvSpPr txBox="1"/>
          <p:nvPr/>
        </p:nvSpPr>
        <p:spPr>
          <a:xfrm>
            <a:off x="581040" y="2704320"/>
            <a:ext cx="5590800" cy="251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Configuração Netplan e IP Fixo</a:t>
            </a:r>
            <a:endParaRPr b="0" i="0" sz="165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59"/>
          <p:cNvSpPr txBox="1"/>
          <p:nvPr/>
        </p:nvSpPr>
        <p:spPr>
          <a:xfrm>
            <a:off x="581040" y="3142440"/>
            <a:ext cx="5324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Instalação do servidor principal srv-core (Ubuntu Server). Foi essencial configurá-lo com um endereço IP fixo para garantir a estabilidade permanente dos serviços Web, do WordPress e da Base de Dados.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327" name="Google Shape;327;p5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76680" y="1050120"/>
            <a:ext cx="5129280" cy="5334840"/>
          </a:xfrm>
          <a:prstGeom prst="rect">
            <a:avLst/>
          </a:prstGeom>
          <a:noFill/>
          <a:ln>
            <a:noFill/>
          </a:ln>
          <a:effectLst>
            <a:outerShdw dir="5400000" dist="23040">
              <a:srgbClr val="000000">
                <a:alpha val="34902"/>
              </a:srgbClr>
            </a:outerShdw>
          </a:effectLst>
        </p:spPr>
      </p:pic>
      <p:sp>
        <p:nvSpPr>
          <p:cNvPr id="328" name="Google Shape;328;p59"/>
          <p:cNvSpPr txBox="1"/>
          <p:nvPr/>
        </p:nvSpPr>
        <p:spPr>
          <a:xfrm>
            <a:off x="771480" y="4064400"/>
            <a:ext cx="5133960" cy="487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Ficheiro de Configuração:</a:t>
            </a:r>
            <a:r>
              <a:rPr b="0" i="0" lang="en-US" sz="12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Modificação do YAML no diretório /etc/netplan/.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59"/>
          <p:cNvSpPr txBox="1"/>
          <p:nvPr/>
        </p:nvSpPr>
        <p:spPr>
          <a:xfrm>
            <a:off x="771480" y="4694760"/>
            <a:ext cx="5133960" cy="24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Endereço IPv4:</a:t>
            </a:r>
            <a:r>
              <a:rPr b="0" i="0" lang="en-US" sz="12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Definição estática para 10.10.10.10/24.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59"/>
          <p:cNvSpPr txBox="1"/>
          <p:nvPr/>
        </p:nvSpPr>
        <p:spPr>
          <a:xfrm>
            <a:off x="771480" y="5081400"/>
            <a:ext cx="5133960" cy="24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Gateway e DNS:</a:t>
            </a:r>
            <a:r>
              <a:rPr b="0" i="0" lang="en-US" sz="12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Apontados para a firewall OPNsense em 10.10.10.1.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59"/>
          <p:cNvSpPr txBox="1"/>
          <p:nvPr/>
        </p:nvSpPr>
        <p:spPr>
          <a:xfrm>
            <a:off x="581040" y="4064400"/>
            <a:ext cx="152280" cy="247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—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59"/>
          <p:cNvSpPr txBox="1"/>
          <p:nvPr/>
        </p:nvSpPr>
        <p:spPr>
          <a:xfrm>
            <a:off x="581040" y="4694760"/>
            <a:ext cx="152280" cy="247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—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59"/>
          <p:cNvSpPr txBox="1"/>
          <p:nvPr/>
        </p:nvSpPr>
        <p:spPr>
          <a:xfrm>
            <a:off x="581040" y="5081400"/>
            <a:ext cx="152280" cy="247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—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60"/>
          <p:cNvSpPr txBox="1"/>
          <p:nvPr/>
        </p:nvSpPr>
        <p:spPr>
          <a:xfrm>
            <a:off x="581040" y="485640"/>
            <a:ext cx="11581560" cy="40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Resolução DNS e DHCP (Dnsmasq) </a:t>
            </a:r>
            <a:r>
              <a:rPr b="0" i="0" lang="en-US" sz="2550" u="none" cap="none" strike="noStrike">
                <a:solidFill>
                  <a:srgbClr val="6B7280"/>
                </a:solidFill>
                <a:latin typeface="Inter Medium"/>
                <a:ea typeface="Inter Medium"/>
                <a:cs typeface="Inter Medium"/>
                <a:sym typeface="Inter Medium"/>
              </a:rPr>
              <a:t>07 / 14</a:t>
            </a:r>
            <a:endParaRPr b="0" i="0" sz="255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60"/>
          <p:cNvSpPr/>
          <p:nvPr/>
        </p:nvSpPr>
        <p:spPr>
          <a:xfrm>
            <a:off x="581040" y="1019160"/>
            <a:ext cx="11030040" cy="1908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111827"/>
          </a:solidFill>
          <a:ln>
            <a:noFill/>
          </a:ln>
        </p:spPr>
      </p:sp>
      <p:sp>
        <p:nvSpPr>
          <p:cNvPr id="340" name="Google Shape;340;p60"/>
          <p:cNvSpPr txBox="1"/>
          <p:nvPr/>
        </p:nvSpPr>
        <p:spPr>
          <a:xfrm>
            <a:off x="581040" y="2850120"/>
            <a:ext cx="5590800" cy="251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Gestão de Nomes e Atribuição de IP</a:t>
            </a:r>
            <a:endParaRPr b="0" i="0" sz="165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60"/>
          <p:cNvSpPr txBox="1"/>
          <p:nvPr/>
        </p:nvSpPr>
        <p:spPr>
          <a:xfrm>
            <a:off x="581040" y="3288240"/>
            <a:ext cx="5324400" cy="73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Ativação do serviço </a:t>
            </a:r>
            <a:r>
              <a:rPr b="1" i="0" lang="en-US" sz="12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Dnsmasq</a:t>
            </a:r>
            <a:r>
              <a:rPr b="0" i="0" lang="en-US" sz="12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no OPNsense, centralizando a resolução de nomes locais e a concessão dinâmica de endereços para todo o domínio istec.local.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60"/>
          <p:cNvSpPr txBox="1"/>
          <p:nvPr/>
        </p:nvSpPr>
        <p:spPr>
          <a:xfrm>
            <a:off x="581040" y="4210200"/>
            <a:ext cx="5324400" cy="24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Host Overrides registados para acesso facilitado: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60"/>
          <p:cNvSpPr txBox="1"/>
          <p:nvPr/>
        </p:nvSpPr>
        <p:spPr>
          <a:xfrm>
            <a:off x="771480" y="4548960"/>
            <a:ext cx="5133960" cy="24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NagiosUbuntu.istec.local resolve para 10.10.10.30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60"/>
          <p:cNvSpPr txBox="1"/>
          <p:nvPr/>
        </p:nvSpPr>
        <p:spPr>
          <a:xfrm>
            <a:off x="771480" y="4935600"/>
            <a:ext cx="5133960" cy="24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Wazuh.istec.local resolve para 10.10.10.40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60"/>
          <p:cNvSpPr txBox="1"/>
          <p:nvPr/>
        </p:nvSpPr>
        <p:spPr>
          <a:xfrm>
            <a:off x="581040" y="4548960"/>
            <a:ext cx="152280" cy="247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—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60"/>
          <p:cNvSpPr txBox="1"/>
          <p:nvPr/>
        </p:nvSpPr>
        <p:spPr>
          <a:xfrm>
            <a:off x="581040" y="4935600"/>
            <a:ext cx="152280" cy="247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—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61"/>
          <p:cNvSpPr txBox="1"/>
          <p:nvPr/>
        </p:nvSpPr>
        <p:spPr>
          <a:xfrm>
            <a:off x="581040" y="485640"/>
            <a:ext cx="11581560" cy="40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Validação DHCP no Cliente </a:t>
            </a:r>
            <a:r>
              <a:rPr b="0" i="0" lang="en-US" sz="2550" u="none" cap="none" strike="noStrike">
                <a:solidFill>
                  <a:srgbClr val="6B7280"/>
                </a:solidFill>
                <a:latin typeface="Inter Medium"/>
                <a:ea typeface="Inter Medium"/>
                <a:cs typeface="Inter Medium"/>
                <a:sym typeface="Inter Medium"/>
              </a:rPr>
              <a:t>08 / 14</a:t>
            </a:r>
            <a:endParaRPr b="0" i="0" sz="255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61"/>
          <p:cNvSpPr/>
          <p:nvPr/>
        </p:nvSpPr>
        <p:spPr>
          <a:xfrm>
            <a:off x="581040" y="1019160"/>
            <a:ext cx="11030040" cy="1908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111827"/>
          </a:solidFill>
          <a:ln>
            <a:noFill/>
          </a:ln>
        </p:spPr>
      </p:sp>
      <p:pic>
        <p:nvPicPr>
          <p:cNvPr descr="image.png" id="353" name="Google Shape;353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0" y="1704960"/>
            <a:ext cx="1790640" cy="237960"/>
          </a:xfrm>
          <a:prstGeom prst="rect">
            <a:avLst/>
          </a:prstGeom>
          <a:noFill/>
          <a:ln>
            <a:noFill/>
          </a:ln>
          <a:effectLst>
            <a:outerShdw dir="5400000" dist="23040">
              <a:srgbClr val="000000">
                <a:alpha val="34902"/>
              </a:srgbClr>
            </a:outerShdw>
          </a:effectLst>
        </p:spPr>
      </p:pic>
      <p:sp>
        <p:nvSpPr>
          <p:cNvPr id="354" name="Google Shape;354;p61"/>
          <p:cNvSpPr txBox="1"/>
          <p:nvPr/>
        </p:nvSpPr>
        <p:spPr>
          <a:xfrm>
            <a:off x="2286000" y="2181240"/>
            <a:ext cx="8001000" cy="251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Obtenção Dinâmica de IP em Cliente Ubuntu</a:t>
            </a:r>
            <a:endParaRPr b="0" i="0" sz="165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61"/>
          <p:cNvSpPr txBox="1"/>
          <p:nvPr/>
        </p:nvSpPr>
        <p:spPr>
          <a:xfrm>
            <a:off x="2286000" y="2619360"/>
            <a:ext cx="7620120" cy="4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Verificação efetuada no terminal do cliente Ubuntu Desktop para confirmar a correta receção dos parâmetros de rede enviados pelo servidor DHCP do OPNsense.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61"/>
          <p:cNvSpPr txBox="1"/>
          <p:nvPr/>
        </p:nvSpPr>
        <p:spPr>
          <a:xfrm>
            <a:off x="2286000" y="6040800"/>
            <a:ext cx="7620120" cy="4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Inter Medium"/>
                <a:ea typeface="Inter Medium"/>
                <a:cs typeface="Inter Medium"/>
                <a:sym typeface="Inter Medium"/>
              </a:rPr>
              <a:t>O cliente obteve com sucesso o endereço </a:t>
            </a:r>
            <a:r>
              <a:rPr b="1" i="0" lang="en-US" sz="12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10.10.10.200/24</a:t>
            </a:r>
            <a:r>
              <a:rPr b="0" i="0" lang="en-US" sz="1200" u="none" cap="none" strike="noStrike">
                <a:solidFill>
                  <a:srgbClr val="374151"/>
                </a:solidFill>
                <a:latin typeface="Inter Medium"/>
                <a:ea typeface="Inter Medium"/>
                <a:cs typeface="Inter Medium"/>
                <a:sym typeface="Inter Medium"/>
              </a:rPr>
              <a:t>, pertencente ao final do intervalo DHCP configurado no Dnsmasq.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7" name="Google Shape;357;p6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91880" y="3107520"/>
            <a:ext cx="5000760" cy="2892960"/>
          </a:xfrm>
          <a:prstGeom prst="rect">
            <a:avLst/>
          </a:prstGeom>
          <a:noFill/>
          <a:ln>
            <a:noFill/>
          </a:ln>
          <a:effectLst>
            <a:outerShdw dir="5400000" dist="23040">
              <a:srgbClr val="000000">
                <a:alpha val="34902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62" name="Google Shape;362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40" y="1324080"/>
            <a:ext cx="5324400" cy="5048280"/>
          </a:xfrm>
          <a:prstGeom prst="rect">
            <a:avLst/>
          </a:prstGeom>
          <a:noFill/>
          <a:ln>
            <a:noFill/>
          </a:ln>
          <a:effectLst>
            <a:outerShdw dir="5400000" dist="23040">
              <a:srgbClr val="000000">
                <a:alpha val="34902"/>
              </a:srgbClr>
            </a:outerShdw>
          </a:effectLst>
        </p:spPr>
      </p:pic>
      <p:pic>
        <p:nvPicPr>
          <p:cNvPr descr="image.png" id="363" name="Google Shape;363;p6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680" y="1324080"/>
            <a:ext cx="5324400" cy="5048280"/>
          </a:xfrm>
          <a:prstGeom prst="rect">
            <a:avLst/>
          </a:prstGeom>
          <a:noFill/>
          <a:ln>
            <a:noFill/>
          </a:ln>
          <a:effectLst>
            <a:outerShdw dir="5400000" dist="23040">
              <a:srgbClr val="000000">
                <a:alpha val="34902"/>
              </a:srgbClr>
            </a:outerShdw>
          </a:effectLst>
        </p:spPr>
      </p:pic>
      <p:sp>
        <p:nvSpPr>
          <p:cNvPr id="364" name="Google Shape;364;p62"/>
          <p:cNvSpPr txBox="1"/>
          <p:nvPr/>
        </p:nvSpPr>
        <p:spPr>
          <a:xfrm>
            <a:off x="581040" y="485640"/>
            <a:ext cx="11581560" cy="40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Pilha LAMP e Aceleração Redis </a:t>
            </a:r>
            <a:r>
              <a:rPr b="0" i="0" lang="en-US" sz="2550" u="none" cap="none" strike="noStrike">
                <a:solidFill>
                  <a:srgbClr val="6B7280"/>
                </a:solidFill>
                <a:latin typeface="Inter Medium"/>
                <a:ea typeface="Inter Medium"/>
                <a:cs typeface="Inter Medium"/>
                <a:sym typeface="Inter Medium"/>
              </a:rPr>
              <a:t>09 / 14</a:t>
            </a:r>
            <a:endParaRPr b="0" i="0" sz="255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62"/>
          <p:cNvSpPr/>
          <p:nvPr/>
        </p:nvSpPr>
        <p:spPr>
          <a:xfrm>
            <a:off x="581040" y="1019160"/>
            <a:ext cx="11030040" cy="1908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111827"/>
          </a:solidFill>
          <a:ln>
            <a:noFill/>
          </a:ln>
        </p:spPr>
      </p:sp>
      <p:sp>
        <p:nvSpPr>
          <p:cNvPr id="366" name="Google Shape;366;p62"/>
          <p:cNvSpPr txBox="1"/>
          <p:nvPr/>
        </p:nvSpPr>
        <p:spPr>
          <a:xfrm>
            <a:off x="923760" y="1762200"/>
            <a:ext cx="4870440" cy="251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Preparação do Ambiente LAMP</a:t>
            </a:r>
            <a:endParaRPr b="0" i="0" sz="165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62"/>
          <p:cNvSpPr txBox="1"/>
          <p:nvPr/>
        </p:nvSpPr>
        <p:spPr>
          <a:xfrm>
            <a:off x="923760" y="2200320"/>
            <a:ext cx="4638600" cy="73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Configuração dos serviços essenciais de suporte para alojar o site corporativo em WordPress diretamente no servidor srv-core (10.10.10.10).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62"/>
          <p:cNvSpPr txBox="1"/>
          <p:nvPr/>
        </p:nvSpPr>
        <p:spPr>
          <a:xfrm>
            <a:off x="6629400" y="1762200"/>
            <a:ext cx="4870440" cy="251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Otimização com Redis Cache</a:t>
            </a:r>
            <a:endParaRPr b="0" i="0" sz="165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62"/>
          <p:cNvSpPr txBox="1"/>
          <p:nvPr/>
        </p:nvSpPr>
        <p:spPr>
          <a:xfrm>
            <a:off x="6629400" y="2200320"/>
            <a:ext cx="4638600" cy="4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Para garantir um desempenho superior e tempos de resposta otimizados, foi integrado um sistema de cache em memória.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62"/>
          <p:cNvSpPr txBox="1"/>
          <p:nvPr/>
        </p:nvSpPr>
        <p:spPr>
          <a:xfrm>
            <a:off x="1114560" y="3122280"/>
            <a:ext cx="4448160" cy="24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Apache2:</a:t>
            </a:r>
            <a:r>
              <a:rPr b="0" i="0" lang="en-US" sz="12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Configurado como o servidor Web principal.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62"/>
          <p:cNvSpPr txBox="1"/>
          <p:nvPr/>
        </p:nvSpPr>
        <p:spPr>
          <a:xfrm>
            <a:off x="1114560" y="3508920"/>
            <a:ext cx="4448160" cy="24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MariaDB:</a:t>
            </a:r>
            <a:r>
              <a:rPr b="0" i="0" lang="en-US" sz="12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Implementado como motor  de base de dados relacional.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62"/>
          <p:cNvSpPr txBox="1"/>
          <p:nvPr/>
        </p:nvSpPr>
        <p:spPr>
          <a:xfrm>
            <a:off x="1114560" y="4139280"/>
            <a:ext cx="4448160" cy="4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PHP 8.x:</a:t>
            </a:r>
            <a:r>
              <a:rPr b="0" i="0" lang="en-US" sz="12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Instalação de módulos essenciais de execução e suporte a extensões vitais para o CMS.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62"/>
          <p:cNvSpPr txBox="1"/>
          <p:nvPr/>
        </p:nvSpPr>
        <p:spPr>
          <a:xfrm>
            <a:off x="6819840" y="2878200"/>
            <a:ext cx="4448160" cy="4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Instalação do Redis:</a:t>
            </a:r>
            <a:r>
              <a:rPr b="0" i="0" lang="en-US" sz="12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Implementado e configurado para arrancar com o sistema.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62"/>
          <p:cNvSpPr txBox="1"/>
          <p:nvPr/>
        </p:nvSpPr>
        <p:spPr>
          <a:xfrm>
            <a:off x="6819840" y="3508920"/>
            <a:ext cx="4448160" cy="4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Validação de Serviço:</a:t>
            </a:r>
            <a:r>
              <a:rPr b="0" i="0" lang="en-US" sz="12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Teste direto via terminal executando redis-cli ping, com resposta afirmativa PONG.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62"/>
          <p:cNvSpPr txBox="1"/>
          <p:nvPr/>
        </p:nvSpPr>
        <p:spPr>
          <a:xfrm>
            <a:off x="6819840" y="4139280"/>
            <a:ext cx="4448160" cy="4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Integração WP:</a:t>
            </a:r>
            <a:r>
              <a:rPr b="0" i="0" lang="en-US" sz="12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Preparação para ligação nativa ao WordPress via plugin dedicado.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62"/>
          <p:cNvSpPr txBox="1"/>
          <p:nvPr/>
        </p:nvSpPr>
        <p:spPr>
          <a:xfrm>
            <a:off x="923760" y="3122280"/>
            <a:ext cx="152280" cy="247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—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62"/>
          <p:cNvSpPr txBox="1"/>
          <p:nvPr/>
        </p:nvSpPr>
        <p:spPr>
          <a:xfrm>
            <a:off x="923760" y="3508920"/>
            <a:ext cx="152280" cy="247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—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62"/>
          <p:cNvSpPr txBox="1"/>
          <p:nvPr/>
        </p:nvSpPr>
        <p:spPr>
          <a:xfrm>
            <a:off x="923760" y="4139280"/>
            <a:ext cx="152280" cy="247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—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62"/>
          <p:cNvSpPr txBox="1"/>
          <p:nvPr/>
        </p:nvSpPr>
        <p:spPr>
          <a:xfrm>
            <a:off x="6629400" y="2878200"/>
            <a:ext cx="152280" cy="247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—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62"/>
          <p:cNvSpPr txBox="1"/>
          <p:nvPr/>
        </p:nvSpPr>
        <p:spPr>
          <a:xfrm>
            <a:off x="6629400" y="3508920"/>
            <a:ext cx="152280" cy="247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—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62"/>
          <p:cNvSpPr txBox="1"/>
          <p:nvPr/>
        </p:nvSpPr>
        <p:spPr>
          <a:xfrm>
            <a:off x="6629400" y="4139280"/>
            <a:ext cx="152280" cy="247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—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86" name="Google Shape;386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6680" y="1562040"/>
            <a:ext cx="5324400" cy="4572000"/>
          </a:xfrm>
          <a:prstGeom prst="rect">
            <a:avLst/>
          </a:prstGeom>
          <a:noFill/>
          <a:ln>
            <a:noFill/>
          </a:ln>
          <a:effectLst>
            <a:outerShdw dir="5400000" dist="23040">
              <a:srgbClr val="000000">
                <a:alpha val="34902"/>
              </a:srgbClr>
            </a:outerShdw>
          </a:effectLst>
        </p:spPr>
      </p:pic>
      <p:pic>
        <p:nvPicPr>
          <p:cNvPr descr="image.png" id="387" name="Google Shape;387;p6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40" y="3771720"/>
            <a:ext cx="5324400" cy="2036160"/>
          </a:xfrm>
          <a:prstGeom prst="rect">
            <a:avLst/>
          </a:prstGeom>
          <a:noFill/>
          <a:ln>
            <a:noFill/>
          </a:ln>
          <a:effectLst>
            <a:outerShdw dir="5400000" dist="23040">
              <a:srgbClr val="000000">
                <a:alpha val="34902"/>
              </a:srgbClr>
            </a:outerShdw>
          </a:effectLst>
        </p:spPr>
      </p:pic>
      <p:sp>
        <p:nvSpPr>
          <p:cNvPr id="388" name="Google Shape;388;p63"/>
          <p:cNvSpPr txBox="1"/>
          <p:nvPr/>
        </p:nvSpPr>
        <p:spPr>
          <a:xfrm>
            <a:off x="581040" y="485640"/>
            <a:ext cx="11581560" cy="40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Portal WordPress Publicado </a:t>
            </a:r>
            <a:r>
              <a:rPr b="0" i="0" lang="en-US" sz="2550" u="none" cap="none" strike="noStrike">
                <a:solidFill>
                  <a:srgbClr val="6B7280"/>
                </a:solidFill>
                <a:latin typeface="Inter Medium"/>
                <a:ea typeface="Inter Medium"/>
                <a:cs typeface="Inter Medium"/>
                <a:sym typeface="Inter Medium"/>
              </a:rPr>
              <a:t>10 / 14</a:t>
            </a:r>
            <a:endParaRPr b="0" i="0" sz="255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63"/>
          <p:cNvSpPr/>
          <p:nvPr/>
        </p:nvSpPr>
        <p:spPr>
          <a:xfrm>
            <a:off x="581040" y="1019160"/>
            <a:ext cx="11030040" cy="1908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111827"/>
          </a:solidFill>
          <a:ln>
            <a:noFill/>
          </a:ln>
        </p:spPr>
      </p:sp>
      <p:pic>
        <p:nvPicPr>
          <p:cNvPr descr="image.png" id="390" name="Google Shape;390;p6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40" y="1888200"/>
            <a:ext cx="1000080" cy="237960"/>
          </a:xfrm>
          <a:prstGeom prst="rect">
            <a:avLst/>
          </a:prstGeom>
          <a:noFill/>
          <a:ln>
            <a:noFill/>
          </a:ln>
          <a:effectLst>
            <a:outerShdw dir="5400000" dist="23040">
              <a:srgbClr val="000000">
                <a:alpha val="34902"/>
              </a:srgbClr>
            </a:outerShdw>
          </a:effectLst>
        </p:spPr>
      </p:pic>
      <p:sp>
        <p:nvSpPr>
          <p:cNvPr id="391" name="Google Shape;391;p63"/>
          <p:cNvSpPr txBox="1"/>
          <p:nvPr/>
        </p:nvSpPr>
        <p:spPr>
          <a:xfrm>
            <a:off x="581040" y="2364120"/>
            <a:ext cx="5590800" cy="251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Templo do Shaoling (Portal Web)</a:t>
            </a:r>
            <a:endParaRPr b="0" i="0" sz="165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63"/>
          <p:cNvSpPr txBox="1"/>
          <p:nvPr/>
        </p:nvSpPr>
        <p:spPr>
          <a:xfrm>
            <a:off x="581040" y="2802600"/>
            <a:ext cx="5324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Conclusão do aprovisionamento do WordPress no endereço IP do servidor Web (10.10.10.10). O portal encontra-se totalmente funcional e acessível a partir de qualquer máquina na LAN.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393" name="Google Shape;393;p6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91440" y="1666800"/>
            <a:ext cx="5114880" cy="4362480"/>
          </a:xfrm>
          <a:prstGeom prst="rect">
            <a:avLst/>
          </a:prstGeom>
          <a:noFill/>
          <a:ln>
            <a:noFill/>
          </a:ln>
          <a:effectLst>
            <a:outerShdw dir="5400000" dist="23040">
              <a:srgbClr val="000000">
                <a:alpha val="34902"/>
              </a:srgbClr>
            </a:outerShdw>
          </a:effectLst>
        </p:spPr>
      </p:pic>
      <p:sp>
        <p:nvSpPr>
          <p:cNvPr id="394" name="Google Shape;394;p63"/>
          <p:cNvSpPr txBox="1"/>
          <p:nvPr/>
        </p:nvSpPr>
        <p:spPr>
          <a:xfrm>
            <a:off x="876240" y="4067280"/>
            <a:ext cx="4970520" cy="190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Detalhes da Publicação: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63"/>
          <p:cNvSpPr txBox="1"/>
          <p:nvPr/>
        </p:nvSpPr>
        <p:spPr>
          <a:xfrm>
            <a:off x="1066680" y="4352760"/>
            <a:ext cx="4543560" cy="24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URL de Acesso:</a:t>
            </a:r>
            <a:r>
              <a:rPr b="0" i="0" lang="en-US" sz="12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http://10.10.10.10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63"/>
          <p:cNvSpPr txBox="1"/>
          <p:nvPr/>
        </p:nvSpPr>
        <p:spPr>
          <a:xfrm>
            <a:off x="1066680" y="4739760"/>
            <a:ext cx="4543560" cy="24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Administrador:</a:t>
            </a:r>
            <a:r>
              <a:rPr b="0" i="0" lang="en-US" sz="12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wpuser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63"/>
          <p:cNvSpPr txBox="1"/>
          <p:nvPr/>
        </p:nvSpPr>
        <p:spPr>
          <a:xfrm>
            <a:off x="1066680" y="5126400"/>
            <a:ext cx="4543560" cy="24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Estado Atual:</a:t>
            </a:r>
            <a:r>
              <a:rPr b="0" i="0" lang="en-US" sz="12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Ativo com template inicial configurado.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63"/>
          <p:cNvSpPr txBox="1"/>
          <p:nvPr/>
        </p:nvSpPr>
        <p:spPr>
          <a:xfrm>
            <a:off x="876240" y="4352760"/>
            <a:ext cx="152280" cy="247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—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63"/>
          <p:cNvSpPr txBox="1"/>
          <p:nvPr/>
        </p:nvSpPr>
        <p:spPr>
          <a:xfrm>
            <a:off x="876240" y="4739760"/>
            <a:ext cx="152280" cy="247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—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63"/>
          <p:cNvSpPr txBox="1"/>
          <p:nvPr/>
        </p:nvSpPr>
        <p:spPr>
          <a:xfrm>
            <a:off x="876240" y="5126400"/>
            <a:ext cx="152280" cy="247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—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05" name="Google Shape;405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6680" y="1562040"/>
            <a:ext cx="5324400" cy="4572000"/>
          </a:xfrm>
          <a:prstGeom prst="rect">
            <a:avLst/>
          </a:prstGeom>
          <a:noFill/>
          <a:ln>
            <a:noFill/>
          </a:ln>
          <a:effectLst>
            <a:outerShdw dir="5400000" dist="23040">
              <a:srgbClr val="000000">
                <a:alpha val="34902"/>
              </a:srgbClr>
            </a:outerShdw>
          </a:effectLst>
        </p:spPr>
      </p:pic>
      <p:sp>
        <p:nvSpPr>
          <p:cNvPr id="406" name="Google Shape;406;p64"/>
          <p:cNvSpPr txBox="1"/>
          <p:nvPr/>
        </p:nvSpPr>
        <p:spPr>
          <a:xfrm>
            <a:off x="581040" y="485640"/>
            <a:ext cx="11581560" cy="40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Monitorização de Serviços (Nagios) </a:t>
            </a:r>
            <a:r>
              <a:rPr b="0" i="0" lang="en-US" sz="2550" u="none" cap="none" strike="noStrike">
                <a:solidFill>
                  <a:srgbClr val="6B7280"/>
                </a:solidFill>
                <a:latin typeface="Inter Medium"/>
                <a:ea typeface="Inter Medium"/>
                <a:cs typeface="Inter Medium"/>
                <a:sym typeface="Inter Medium"/>
              </a:rPr>
              <a:t>11 / 14</a:t>
            </a:r>
            <a:endParaRPr b="0" i="0" sz="255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64"/>
          <p:cNvSpPr/>
          <p:nvPr/>
        </p:nvSpPr>
        <p:spPr>
          <a:xfrm>
            <a:off x="581040" y="1019160"/>
            <a:ext cx="11030040" cy="1908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111827"/>
          </a:solidFill>
          <a:ln>
            <a:noFill/>
          </a:ln>
        </p:spPr>
      </p:sp>
      <p:pic>
        <p:nvPicPr>
          <p:cNvPr descr="image.png" id="408" name="Google Shape;408;p6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40" y="2228040"/>
            <a:ext cx="1009800" cy="237960"/>
          </a:xfrm>
          <a:prstGeom prst="rect">
            <a:avLst/>
          </a:prstGeom>
          <a:noFill/>
          <a:ln>
            <a:noFill/>
          </a:ln>
          <a:effectLst>
            <a:outerShdw dir="5400000" dist="23040">
              <a:srgbClr val="000000">
                <a:alpha val="34902"/>
              </a:srgbClr>
            </a:outerShdw>
          </a:effectLst>
        </p:spPr>
      </p:pic>
      <p:sp>
        <p:nvSpPr>
          <p:cNvPr id="409" name="Google Shape;409;p64"/>
          <p:cNvSpPr txBox="1"/>
          <p:nvPr/>
        </p:nvSpPr>
        <p:spPr>
          <a:xfrm>
            <a:off x="581040" y="2704320"/>
            <a:ext cx="5590800" cy="251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Monitorização Ativa da Rede</a:t>
            </a:r>
            <a:endParaRPr b="0" i="0" sz="165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64"/>
          <p:cNvSpPr txBox="1"/>
          <p:nvPr/>
        </p:nvSpPr>
        <p:spPr>
          <a:xfrm>
            <a:off x="581040" y="3142440"/>
            <a:ext cx="5324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Implementação do servidor Nagios Core no host dedicado SVR-NAGIOS (</a:t>
            </a:r>
            <a:r>
              <a:rPr b="1" i="0" lang="en-US" sz="12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10.10.10.30</a:t>
            </a:r>
            <a:r>
              <a:rPr b="0" i="0" lang="en-US" sz="12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) para garantir a supervisão de disponibilidade de todos os componentes críticos, em tempo real.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64"/>
          <p:cNvSpPr txBox="1"/>
          <p:nvPr/>
        </p:nvSpPr>
        <p:spPr>
          <a:xfrm>
            <a:off x="771480" y="4064400"/>
            <a:ext cx="5133960" cy="24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Supervisão contínua do gateway </a:t>
            </a:r>
            <a:r>
              <a:rPr b="1" i="0" lang="en-US" sz="12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OPNsense</a:t>
            </a:r>
            <a:r>
              <a:rPr b="0" i="0" lang="en-US" sz="12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via SNMP e Ping.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64"/>
          <p:cNvSpPr txBox="1"/>
          <p:nvPr/>
        </p:nvSpPr>
        <p:spPr>
          <a:xfrm>
            <a:off x="771480" y="4451040"/>
            <a:ext cx="5133960" cy="24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Verificação constante de serviços do </a:t>
            </a:r>
            <a:r>
              <a:rPr b="1" i="0" lang="en-US" sz="12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srv-core</a:t>
            </a:r>
            <a:r>
              <a:rPr b="0" i="0" lang="en-US" sz="12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(HTTP / SSH / PING).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64"/>
          <p:cNvSpPr txBox="1"/>
          <p:nvPr/>
        </p:nvSpPr>
        <p:spPr>
          <a:xfrm>
            <a:off x="771480" y="4837680"/>
            <a:ext cx="5133960" cy="4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Interface Web centralizada exibindo estados de alerta imediatos (OK, WARNING, CRITICAL).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64"/>
          <p:cNvSpPr txBox="1"/>
          <p:nvPr/>
        </p:nvSpPr>
        <p:spPr>
          <a:xfrm>
            <a:off x="581040" y="4064400"/>
            <a:ext cx="152280" cy="247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—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64"/>
          <p:cNvSpPr txBox="1"/>
          <p:nvPr/>
        </p:nvSpPr>
        <p:spPr>
          <a:xfrm>
            <a:off x="581040" y="4451040"/>
            <a:ext cx="152280" cy="247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—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64"/>
          <p:cNvSpPr txBox="1"/>
          <p:nvPr/>
        </p:nvSpPr>
        <p:spPr>
          <a:xfrm>
            <a:off x="581040" y="4837680"/>
            <a:ext cx="152280" cy="247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—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7" name="Google Shape;417;p6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79120" y="1556280"/>
            <a:ext cx="5323680" cy="4565520"/>
          </a:xfrm>
          <a:prstGeom prst="rect">
            <a:avLst/>
          </a:prstGeom>
          <a:noFill/>
          <a:ln>
            <a:noFill/>
          </a:ln>
          <a:effectLst>
            <a:outerShdw dir="5400000" dist="23040">
              <a:srgbClr val="000000">
                <a:alpha val="34902"/>
              </a:srgbClr>
            </a:outerShdw>
          </a:effec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22" name="Google Shape;422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40" y="1324080"/>
            <a:ext cx="11030040" cy="5048280"/>
          </a:xfrm>
          <a:prstGeom prst="rect">
            <a:avLst/>
          </a:prstGeom>
          <a:noFill/>
          <a:ln>
            <a:noFill/>
          </a:ln>
          <a:effectLst>
            <a:outerShdw dir="5400000" dist="23040">
              <a:srgbClr val="000000">
                <a:alpha val="34902"/>
              </a:srgbClr>
            </a:outerShdw>
          </a:effectLst>
        </p:spPr>
      </p:pic>
      <p:pic>
        <p:nvPicPr>
          <p:cNvPr descr="image.png" id="423" name="Google Shape;423;p6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6240" y="4119840"/>
            <a:ext cx="3321000" cy="1519920"/>
          </a:xfrm>
          <a:prstGeom prst="rect">
            <a:avLst/>
          </a:prstGeom>
          <a:noFill/>
          <a:ln>
            <a:noFill/>
          </a:ln>
          <a:effectLst>
            <a:outerShdw dir="5400000" dist="23040">
              <a:srgbClr val="000000">
                <a:alpha val="34902"/>
              </a:srgbClr>
            </a:outerShdw>
          </a:effectLst>
        </p:spPr>
      </p:pic>
      <p:pic>
        <p:nvPicPr>
          <p:cNvPr descr="image.png" id="424" name="Google Shape;424;p6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35200" y="4119840"/>
            <a:ext cx="3321000" cy="1519920"/>
          </a:xfrm>
          <a:prstGeom prst="rect">
            <a:avLst/>
          </a:prstGeom>
          <a:noFill/>
          <a:ln>
            <a:noFill/>
          </a:ln>
          <a:effectLst>
            <a:outerShdw dir="5400000" dist="23040">
              <a:srgbClr val="000000">
                <a:alpha val="34902"/>
              </a:srgbClr>
            </a:outerShdw>
          </a:effectLst>
        </p:spPr>
      </p:pic>
      <p:pic>
        <p:nvPicPr>
          <p:cNvPr descr="image.png" id="425" name="Google Shape;425;p6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94520" y="4119840"/>
            <a:ext cx="3321000" cy="1519920"/>
          </a:xfrm>
          <a:prstGeom prst="rect">
            <a:avLst/>
          </a:prstGeom>
          <a:noFill/>
          <a:ln>
            <a:noFill/>
          </a:ln>
          <a:effectLst>
            <a:outerShdw dir="5400000" dist="23040">
              <a:srgbClr val="000000">
                <a:alpha val="34902"/>
              </a:srgbClr>
            </a:outerShdw>
          </a:effectLst>
        </p:spPr>
      </p:pic>
      <p:sp>
        <p:nvSpPr>
          <p:cNvPr id="426" name="Google Shape;426;p65"/>
          <p:cNvSpPr txBox="1"/>
          <p:nvPr/>
        </p:nvSpPr>
        <p:spPr>
          <a:xfrm>
            <a:off x="581040" y="485640"/>
            <a:ext cx="11581560" cy="40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SIEM e Gestão de Eventos (Wazuh) </a:t>
            </a:r>
            <a:r>
              <a:rPr b="0" i="0" lang="en-US" sz="2550" u="none" cap="none" strike="noStrike">
                <a:solidFill>
                  <a:srgbClr val="6B7280"/>
                </a:solidFill>
                <a:latin typeface="Inter Medium"/>
                <a:ea typeface="Inter Medium"/>
                <a:cs typeface="Inter Medium"/>
                <a:sym typeface="Inter Medium"/>
              </a:rPr>
              <a:t>12 / 14</a:t>
            </a:r>
            <a:endParaRPr b="0" i="0" sz="255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65"/>
          <p:cNvSpPr/>
          <p:nvPr/>
        </p:nvSpPr>
        <p:spPr>
          <a:xfrm>
            <a:off x="581040" y="1019160"/>
            <a:ext cx="11030040" cy="1908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111827"/>
          </a:solidFill>
          <a:ln>
            <a:noFill/>
          </a:ln>
        </p:spPr>
      </p:sp>
      <p:pic>
        <p:nvPicPr>
          <p:cNvPr descr="image.png" id="428" name="Google Shape;428;p6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6240" y="2056680"/>
            <a:ext cx="1000080" cy="237960"/>
          </a:xfrm>
          <a:prstGeom prst="rect">
            <a:avLst/>
          </a:prstGeom>
          <a:noFill/>
          <a:ln>
            <a:noFill/>
          </a:ln>
          <a:effectLst>
            <a:outerShdw dir="5400000" dist="23040">
              <a:srgbClr val="000000">
                <a:alpha val="34902"/>
              </a:srgbClr>
            </a:outerShdw>
          </a:effectLst>
        </p:spPr>
      </p:pic>
      <p:sp>
        <p:nvSpPr>
          <p:cNvPr id="429" name="Google Shape;429;p65"/>
          <p:cNvSpPr txBox="1"/>
          <p:nvPr/>
        </p:nvSpPr>
        <p:spPr>
          <a:xfrm>
            <a:off x="876240" y="2532960"/>
            <a:ext cx="10961280" cy="3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Auditoria Centralizada de Segurança</a:t>
            </a:r>
            <a:endParaRPr b="0" i="0" sz="21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65"/>
          <p:cNvSpPr txBox="1"/>
          <p:nvPr/>
        </p:nvSpPr>
        <p:spPr>
          <a:xfrm>
            <a:off x="876240" y="3094920"/>
            <a:ext cx="10439280" cy="5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Instalação da plataforma Wazuh All-in-One no IP </a:t>
            </a:r>
            <a:r>
              <a:rPr b="1" i="0" lang="en-US" sz="135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10.10.10.40</a:t>
            </a:r>
            <a:r>
              <a:rPr b="0" i="0" lang="en-US" sz="135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. O objetivo central é a recolha exaustiva de eventos de segurança, deteção de anomalias e análise de integridade em toda a infraestrutura.</a:t>
            </a:r>
            <a:endParaRPr b="0" i="0" sz="135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65"/>
          <p:cNvSpPr txBox="1"/>
          <p:nvPr/>
        </p:nvSpPr>
        <p:spPr>
          <a:xfrm>
            <a:off x="1095480" y="4310280"/>
            <a:ext cx="2911320" cy="190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Agente Wazuh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65"/>
          <p:cNvSpPr txBox="1"/>
          <p:nvPr/>
        </p:nvSpPr>
        <p:spPr>
          <a:xfrm>
            <a:off x="1095480" y="4596120"/>
            <a:ext cx="2911320" cy="6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Instalado e ativado no servidor núcleo (srv-core) para permitir o envio contínuo e seguro de logs do sistema operativo e de aplicações.</a:t>
            </a:r>
            <a:endParaRPr b="0" i="0" sz="105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65"/>
          <p:cNvSpPr txBox="1"/>
          <p:nvPr/>
        </p:nvSpPr>
        <p:spPr>
          <a:xfrm>
            <a:off x="4654440" y="4310280"/>
            <a:ext cx="2911680" cy="190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File Integrity Monitoring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65"/>
          <p:cNvSpPr txBox="1"/>
          <p:nvPr/>
        </p:nvSpPr>
        <p:spPr>
          <a:xfrm>
            <a:off x="4654440" y="4596120"/>
            <a:ext cx="2911680" cy="8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Módulo FIM ativado explicitamente na diretoria pública do WordPress (/var/www/html) para detetar modificações não autorizadas em ficheiros.</a:t>
            </a:r>
            <a:endParaRPr b="0" i="0" sz="105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65"/>
          <p:cNvSpPr txBox="1"/>
          <p:nvPr/>
        </p:nvSpPr>
        <p:spPr>
          <a:xfrm>
            <a:off x="8213760" y="4310280"/>
            <a:ext cx="2911320" cy="190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Análise em Tempo Real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65"/>
          <p:cNvSpPr txBox="1"/>
          <p:nvPr/>
        </p:nvSpPr>
        <p:spPr>
          <a:xfrm>
            <a:off x="8213760" y="4596120"/>
            <a:ext cx="2911320" cy="8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Dashboard global configurado para permitir a visualização intuitiva de alertas de segurança, acessos falhados e estatísticas de vulnerabilidades.</a:t>
            </a:r>
            <a:endParaRPr b="0" i="0" sz="105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41" name="Google Shape;441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40" y="1514520"/>
            <a:ext cx="3517920" cy="2396160"/>
          </a:xfrm>
          <a:prstGeom prst="rect">
            <a:avLst/>
          </a:prstGeom>
          <a:noFill/>
          <a:ln>
            <a:noFill/>
          </a:ln>
          <a:effectLst>
            <a:outerShdw dir="5400000" dist="23040">
              <a:srgbClr val="000000">
                <a:alpha val="34902"/>
              </a:srgbClr>
            </a:outerShdw>
          </a:effectLst>
        </p:spPr>
      </p:pic>
      <p:pic>
        <p:nvPicPr>
          <p:cNvPr descr="image.png" id="442" name="Google Shape;442;p6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36920" y="1514520"/>
            <a:ext cx="3517920" cy="2396160"/>
          </a:xfrm>
          <a:prstGeom prst="rect">
            <a:avLst/>
          </a:prstGeom>
          <a:noFill/>
          <a:ln>
            <a:noFill/>
          </a:ln>
          <a:effectLst>
            <a:outerShdw dir="5400000" dist="23040">
              <a:srgbClr val="000000">
                <a:alpha val="34902"/>
              </a:srgbClr>
            </a:outerShdw>
          </a:effectLst>
        </p:spPr>
      </p:pic>
      <p:pic>
        <p:nvPicPr>
          <p:cNvPr descr="image.png" id="443" name="Google Shape;443;p6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92800" y="1514520"/>
            <a:ext cx="3517920" cy="2396160"/>
          </a:xfrm>
          <a:prstGeom prst="rect">
            <a:avLst/>
          </a:prstGeom>
          <a:noFill/>
          <a:ln>
            <a:noFill/>
          </a:ln>
          <a:effectLst>
            <a:outerShdw dir="5400000" dist="23040">
              <a:srgbClr val="000000">
                <a:alpha val="34902"/>
              </a:srgbClr>
            </a:outerShdw>
          </a:effectLst>
        </p:spPr>
      </p:pic>
      <p:sp>
        <p:nvSpPr>
          <p:cNvPr id="444" name="Google Shape;444;p66"/>
          <p:cNvSpPr txBox="1"/>
          <p:nvPr/>
        </p:nvSpPr>
        <p:spPr>
          <a:xfrm>
            <a:off x="581040" y="494280"/>
            <a:ext cx="11581560" cy="3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Balanço do Projeto </a:t>
            </a:r>
            <a:r>
              <a:rPr b="0" i="0" lang="en-US" sz="2550" u="none" cap="none" strike="noStrike">
                <a:solidFill>
                  <a:srgbClr val="6B7280"/>
                </a:solidFill>
                <a:latin typeface="Inter Medium"/>
                <a:ea typeface="Inter Medium"/>
                <a:cs typeface="Inter Medium"/>
                <a:sym typeface="Inter Medium"/>
              </a:rPr>
              <a:t>13 / 14</a:t>
            </a:r>
            <a:endParaRPr b="0" i="0" sz="255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66"/>
          <p:cNvSpPr/>
          <p:nvPr/>
        </p:nvSpPr>
        <p:spPr>
          <a:xfrm>
            <a:off x="581040" y="1019160"/>
            <a:ext cx="11030040" cy="1908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111827"/>
          </a:solidFill>
          <a:ln>
            <a:noFill/>
          </a:ln>
        </p:spPr>
      </p:sp>
      <p:sp>
        <p:nvSpPr>
          <p:cNvPr id="446" name="Google Shape;446;p66"/>
          <p:cNvSpPr txBox="1"/>
          <p:nvPr/>
        </p:nvSpPr>
        <p:spPr>
          <a:xfrm>
            <a:off x="1143000" y="1806840"/>
            <a:ext cx="2793600" cy="20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Desafios Encontrados</a:t>
            </a:r>
            <a:endParaRPr b="0" i="0" sz="135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66"/>
          <p:cNvSpPr txBox="1"/>
          <p:nvPr/>
        </p:nvSpPr>
        <p:spPr>
          <a:xfrm>
            <a:off x="876240" y="2152800"/>
            <a:ext cx="2927160" cy="1462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O maior obstáculo incidiu sobre a afinação minuciosa do encaminhamento NAT no OPNsense e a garantia de que a resolução DNS interna (Dnsmasq) era propagada corretamente para todos os clientes.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66"/>
          <p:cNvSpPr txBox="1"/>
          <p:nvPr/>
        </p:nvSpPr>
        <p:spPr>
          <a:xfrm>
            <a:off x="4898880" y="1806840"/>
            <a:ext cx="2793600" cy="20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Soluções Aplicadas</a:t>
            </a:r>
            <a:endParaRPr b="0" i="0" sz="135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66"/>
          <p:cNvSpPr txBox="1"/>
          <p:nvPr/>
        </p:nvSpPr>
        <p:spPr>
          <a:xfrm>
            <a:off x="4632120" y="2152800"/>
            <a:ext cx="2927160" cy="1462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Foram implementadas regras manuais de Outbound NAT, executadas validações sucessivas de resolução DNS via dig e nslookup, e a parametrização do Netplan foi fixada estaticamente nos servidores core.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66"/>
          <p:cNvSpPr txBox="1"/>
          <p:nvPr/>
        </p:nvSpPr>
        <p:spPr>
          <a:xfrm>
            <a:off x="8702640" y="1806840"/>
            <a:ext cx="2743920" cy="20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Aprendagens Chave</a:t>
            </a:r>
            <a:endParaRPr b="0" i="0" sz="135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66"/>
          <p:cNvSpPr txBox="1"/>
          <p:nvPr/>
        </p:nvSpPr>
        <p:spPr>
          <a:xfrm>
            <a:off x="8388360" y="2152800"/>
            <a:ext cx="2927520" cy="1462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O projeto permitiu consolidar uma compreensão prática e aprofundada da integração vertical de serviços numa rede local, fluindo desde as regras vitais de encaminhamento até à gestão avançada de eventos SIEM.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452" name="Google Shape;452;p6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6240" y="1824120"/>
            <a:ext cx="171360" cy="171360"/>
          </a:xfrm>
          <a:prstGeom prst="rect">
            <a:avLst/>
          </a:prstGeom>
          <a:noFill/>
          <a:ln>
            <a:noFill/>
          </a:ln>
          <a:effectLst>
            <a:outerShdw dir="5400000" dist="23040">
              <a:srgbClr val="000000">
                <a:alpha val="34902"/>
              </a:srgbClr>
            </a:outerShdw>
          </a:effectLst>
        </p:spPr>
      </p:pic>
      <p:pic>
        <p:nvPicPr>
          <p:cNvPr descr="image.png" id="453" name="Google Shape;453;p6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32120" y="1824120"/>
            <a:ext cx="171360" cy="171360"/>
          </a:xfrm>
          <a:prstGeom prst="rect">
            <a:avLst/>
          </a:prstGeom>
          <a:noFill/>
          <a:ln>
            <a:noFill/>
          </a:ln>
          <a:effectLst>
            <a:outerShdw dir="5400000" dist="23040">
              <a:srgbClr val="000000">
                <a:alpha val="34902"/>
              </a:srgbClr>
            </a:outerShdw>
          </a:effectLst>
        </p:spPr>
      </p:pic>
      <p:pic>
        <p:nvPicPr>
          <p:cNvPr descr="image.png" id="454" name="Google Shape;454;p6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388360" y="1824120"/>
            <a:ext cx="219240" cy="171360"/>
          </a:xfrm>
          <a:prstGeom prst="rect">
            <a:avLst/>
          </a:prstGeom>
          <a:noFill/>
          <a:ln>
            <a:noFill/>
          </a:ln>
          <a:effectLst>
            <a:outerShdw dir="5400000" dist="23040">
              <a:srgbClr val="000000">
                <a:alpha val="34902"/>
              </a:srgbClr>
            </a:outerShdw>
          </a:effec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59" name="Google Shape;459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40" y="1324080"/>
            <a:ext cx="5324400" cy="5048280"/>
          </a:xfrm>
          <a:prstGeom prst="rect">
            <a:avLst/>
          </a:prstGeom>
          <a:noFill/>
          <a:ln>
            <a:noFill/>
          </a:ln>
          <a:effectLst>
            <a:outerShdw dir="5400000" dist="23040">
              <a:srgbClr val="000000">
                <a:alpha val="34902"/>
              </a:srgbClr>
            </a:outerShdw>
          </a:effectLst>
        </p:spPr>
      </p:pic>
      <p:pic>
        <p:nvPicPr>
          <p:cNvPr descr="image.png" id="460" name="Google Shape;460;p6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7680" y="1193400"/>
            <a:ext cx="5324400" cy="5048280"/>
          </a:xfrm>
          <a:prstGeom prst="rect">
            <a:avLst/>
          </a:prstGeom>
          <a:noFill/>
          <a:ln>
            <a:noFill/>
          </a:ln>
          <a:effectLst>
            <a:outerShdw dir="5400000" dist="23040">
              <a:srgbClr val="000000">
                <a:alpha val="34902"/>
              </a:srgbClr>
            </a:outerShdw>
          </a:effectLst>
        </p:spPr>
      </p:pic>
      <p:sp>
        <p:nvSpPr>
          <p:cNvPr id="461" name="Google Shape;461;p67"/>
          <p:cNvSpPr txBox="1"/>
          <p:nvPr/>
        </p:nvSpPr>
        <p:spPr>
          <a:xfrm>
            <a:off x="581040" y="485640"/>
            <a:ext cx="11581560" cy="40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Encerramento e Declaração de Autoria </a:t>
            </a:r>
            <a:r>
              <a:rPr b="0" i="0" lang="en-US" sz="2550" u="none" cap="none" strike="noStrike">
                <a:solidFill>
                  <a:srgbClr val="6B7280"/>
                </a:solidFill>
                <a:latin typeface="Inter Medium"/>
                <a:ea typeface="Inter Medium"/>
                <a:cs typeface="Inter Medium"/>
                <a:sym typeface="Inter Medium"/>
              </a:rPr>
              <a:t>14 / 14</a:t>
            </a:r>
            <a:endParaRPr b="0" i="0" sz="255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67"/>
          <p:cNvSpPr/>
          <p:nvPr/>
        </p:nvSpPr>
        <p:spPr>
          <a:xfrm>
            <a:off x="581040" y="1019160"/>
            <a:ext cx="11030040" cy="1908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111827"/>
          </a:solidFill>
          <a:ln>
            <a:noFill/>
          </a:ln>
        </p:spPr>
      </p:sp>
      <p:sp>
        <p:nvSpPr>
          <p:cNvPr id="463" name="Google Shape;463;p67"/>
          <p:cNvSpPr txBox="1"/>
          <p:nvPr/>
        </p:nvSpPr>
        <p:spPr>
          <a:xfrm>
            <a:off x="923760" y="1762200"/>
            <a:ext cx="4870440" cy="251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Aplicabilidade Prática</a:t>
            </a:r>
            <a:endParaRPr b="0" i="0" sz="165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67"/>
          <p:cNvSpPr txBox="1"/>
          <p:nvPr/>
        </p:nvSpPr>
        <p:spPr>
          <a:xfrm>
            <a:off x="923760" y="2200320"/>
            <a:ext cx="4638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A solução  demonstra a viabilidade técnica e económica de criar uma infraestrutura organizacional , baseada integralmente em ferramentas Open Source .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67"/>
          <p:cNvSpPr txBox="1"/>
          <p:nvPr/>
        </p:nvSpPr>
        <p:spPr>
          <a:xfrm>
            <a:off x="923760" y="3366000"/>
            <a:ext cx="4638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A sinergia entre a firewall OPNsense, o alojamento Web otimizado, a supervisão do Nagios e as capacidades de deteção do Wazuh asseguram uma postura de cibersegurança forte e elevada resiliência operacional.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67"/>
          <p:cNvSpPr txBox="1"/>
          <p:nvPr/>
        </p:nvSpPr>
        <p:spPr>
          <a:xfrm>
            <a:off x="6638760" y="4901760"/>
            <a:ext cx="4619520" cy="24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Autor:</a:t>
            </a:r>
            <a:r>
              <a:rPr b="0" i="0" lang="en-US" sz="12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David Cadel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67"/>
          <p:cNvSpPr txBox="1"/>
          <p:nvPr/>
        </p:nvSpPr>
        <p:spPr>
          <a:xfrm>
            <a:off x="6638760" y="5193360"/>
            <a:ext cx="4619520" cy="24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Curso:</a:t>
            </a:r>
            <a:r>
              <a:rPr b="0" i="0" lang="en-US" sz="12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CTeSP em Cibersegurança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67"/>
          <p:cNvSpPr txBox="1"/>
          <p:nvPr/>
        </p:nvSpPr>
        <p:spPr>
          <a:xfrm>
            <a:off x="6638760" y="5484600"/>
            <a:ext cx="4619520" cy="24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Disciplina:</a:t>
            </a:r>
            <a:r>
              <a:rPr b="0" i="0" lang="en-US" sz="12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Administração de Serviços de Rede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67"/>
          <p:cNvSpPr txBox="1"/>
          <p:nvPr/>
        </p:nvSpPr>
        <p:spPr>
          <a:xfrm>
            <a:off x="6638760" y="5775840"/>
            <a:ext cx="4619520" cy="24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Entidade:</a:t>
            </a:r>
            <a:r>
              <a:rPr b="0" i="0" lang="en-US" sz="1200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ISTEC - Instituto Superior de Tecnologias Avançadas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